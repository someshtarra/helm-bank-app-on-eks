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walking through the complete production transformation of the Bank Application on AWS EKS. We will explore architectural flaws in traditional setups, how we fixed them, and the production-grade patterns implemented across autoscaling, storage, security, and lifecycle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architectural design must solve real business problems. Banking systems face intense spikes and strict compliance. If infrastructure is poorly structured, outages occur during scaling and security vulnerabilities emerge.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combines battle-tested cloud-native components: AWS EKS for control plane reliability, Helm v3 for configuration as code, HPA v2 for elasticity, and modern EBS CSI for persistent storage.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comprehensive architectural diagram. Notice how client requests flow through the AWS Network Load Balancer directly into the Kubernetes Service, which round-robins across healthy pods. Concurrently, HPA monitors workload utilization.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EKS, nodes are separated by Availability Zones. We isolate frontend banking pods on dedicated worker nodes using taints and tolerations to protect them from resource contention.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refactored the Helm chart into an enterprise layout with _helpers.tpl for centralized naming and standardized labels. Hardcoded namespaces were completely eliminated.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deployment manifest controls the pod lifecycle. We enforce non-root execution, specify precise compute requests, and integrate a PodDisruptionBudget to protect pods during node draining.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using modern AWS Load Balancer Controller annotations, we provision a high-performance Network Load Balancer rather than the legacy Classic Load Balancer.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explains the complete HPA loop. The Metrics Server aggregates CPU usage from kubelets, and the HPA controller calculates target replicas and patches the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the math behind HPA is vital. CPU percentage is calculated against the CPU request. Without requests, HPA fails completely. We also contrast CPU throttling with memory OOMKills.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Persistent storage is managed by the AWS EBS CSI driver. We use gp3 volumes and WaitForFirstConsumer binding to ensure the volume is created in the exact AZ where the pod lands.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the fundamental storage trade-off. EBS cannot scale horizontally across multiple nodes because of the ReadWriteOnce limitation. For multi-replica deployments, AWS EFS (RWX) or S3 object storage is the proper production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RBAC controls who can do what in the cluster. We resolved schema bugs in roleRef and eliminated dangerous pod-deletion permissions, securing the application identity.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security posture adheres to CIS Kubernetes benchmarks and the Restricted Pod Security Standard. We run unprivileged containers and eliminate static credentials via IRSA.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probes form a critical triad: Startup protects initialization, Readiness shields users from incomplete responses, and Liveness recovers wedged processes.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Zero-downtime updates require maxUnavailable: 0 and readiness probes. The PodDisruptionBudget guarantees that voluntary evictions during cluster upgrades do not cause downtime.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follow a disciplined deployment lifecycle: linting, dry-run validation, atomic Helm releases, revision history tracking, and single-command rollbacks.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troubleshooting guide provides actionable playbooks for the four most common production incidents: EBS multi-attach conflicts, HPA unknown metrics, OOM kills, and empty service endpoints.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audit slide demonstrates the value delivered: moving from a fragile, insecure setup to an enterprise-grade, hardened production workload.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this project serves as the foundation for an end-to-end GitOps platform powered by Argo CD, GitHub Actions, Prometheus, and Karpenter.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project exemplifies the senior DevOps mindset: not just writing YAML, but understanding why configurations work, anticipating production failures, and securing workloads by default.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3200400"/>
          </a:xfrm>
          <a:prstGeom prst="rect">
            <a:avLst/>
          </a:prstGeom>
          <a:noFill/>
        </p:spPr>
        <p:txBody>
          <a:bodyPr wrap="none">
            <a:spAutoFit/>
          </a:bodyPr>
          <a:lstStyle/>
          <a:p>
            <a:pPr>
              <a:spcAft>
                <a:spcPts val="1400"/>
              </a:spcAft>
              <a:defRPr sz="1400" b="1">
                <a:solidFill>
                  <a:srgbClr val="FF9900"/>
                </a:solidFill>
              </a:defRPr>
            </a:pPr>
            <a:r>
              <a:t>ENTERPRISE CLOUD-NATIVE WORKLOAD ARCHITECTURE</a:t>
            </a:r>
          </a:p>
          <a:p>
            <a:pPr>
              <a:spcAft>
                <a:spcPts val="1400"/>
              </a:spcAft>
              <a:defRPr sz="3600" b="1">
                <a:solidFill>
                  <a:srgbClr val="FFFFFF"/>
                </a:solidFill>
              </a:defRPr>
            </a:pPr>
            <a:r>
              <a:t>Bank Application on Kubernetes (AWS EKS)</a:t>
            </a:r>
          </a:p>
          <a:p>
            <a:pPr>
              <a:spcAft>
                <a:spcPts val="2400"/>
              </a:spcAft>
              <a:defRPr sz="1600">
                <a:solidFill>
                  <a:srgbClr val="64748B"/>
                </a:solidFill>
              </a:defRPr>
            </a:pPr>
            <a:r>
              <a:t>Production Readiness Review, Horizontal Elasticity (HPA v2), Zero-Trust RBAC, and Resilient Storage Architecture</a:t>
            </a:r>
          </a:p>
          <a:p>
            <a:pPr>
              <a:defRPr sz="1200">
                <a:solidFill>
                  <a:srgbClr val="326CE5"/>
                </a:solidFill>
              </a:defRPr>
            </a:pPr>
            <a:r>
              <a:t>Author: Senior DevOps Engineer &amp; Kubernetes Instructor  |  Helm v3 &amp; AWS EKS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1. Business &amp; Technical Problem Statement</a:t>
            </a:r>
          </a:p>
        </p:txBody>
      </p:sp>
      <p:sp>
        <p:nvSpPr>
          <p:cNvPr id="3" name="Rounded Rectangle 2"/>
          <p:cNvSpPr/>
          <p:nvPr/>
        </p:nvSpPr>
        <p:spPr>
          <a:xfrm>
            <a:off x="731520" y="1371600"/>
            <a:ext cx="5120640" cy="4937760"/>
          </a:xfrm>
          <a:prstGeom prst="roundRect">
            <a:avLst/>
          </a:prstGeom>
          <a:solidFill>
            <a:srgbClr val="FFFFFF"/>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The Business Challenge</a:t>
            </a:r>
          </a:p>
          <a:p>
            <a:pPr>
              <a:spcAft>
                <a:spcPts val="600"/>
              </a:spcAft>
              <a:defRPr sz="1100">
                <a:solidFill>
                  <a:srgbClr val="1E293B"/>
                </a:solidFill>
              </a:defRPr>
            </a:pPr>
            <a:r>
              <a:t>• High Transaction Volatility: Traffic surges during market openings and paydays demand instant elasticity.</a:t>
            </a:r>
          </a:p>
          <a:p>
            <a:pPr>
              <a:spcAft>
                <a:spcPts val="600"/>
              </a:spcAft>
              <a:defRPr sz="1100">
                <a:solidFill>
                  <a:srgbClr val="1E293B"/>
                </a:solidFill>
              </a:defRPr>
            </a:pPr>
            <a:r>
              <a:t>• Strict Zero-Downtime SLA: In financial banking, service disruptions cause immediate financial and brand loss.</a:t>
            </a:r>
          </a:p>
          <a:p>
            <a:pPr>
              <a:spcAft>
                <a:spcPts val="600"/>
              </a:spcAft>
              <a:defRPr sz="1100">
                <a:solidFill>
                  <a:srgbClr val="1E293B"/>
                </a:solidFill>
              </a:defRPr>
            </a:pPr>
            <a:r>
              <a:t>• Regulatory Compliance: Strict mandates (PCI-DSS, SOC2) require zero-trust least-privilege access and isolation.</a:t>
            </a:r>
          </a:p>
          <a:p>
            <a:pPr>
              <a:spcAft>
                <a:spcPts val="600"/>
              </a:spcAft>
              <a:defRPr sz="1100">
                <a:solidFill>
                  <a:srgbClr val="1E293B"/>
                </a:solidFill>
              </a:defRPr>
            </a:pPr>
            <a:r>
              <a:t>• Cost Governance: Over-provisioning static EC2 instances drives up AWS cloud spend needlessly.</a:t>
            </a:r>
          </a:p>
        </p:txBody>
      </p:sp>
      <p:sp>
        <p:nvSpPr>
          <p:cNvPr id="4" name="Rounded Rectangle 3"/>
          <p:cNvSpPr/>
          <p:nvPr/>
        </p:nvSpPr>
        <p:spPr>
          <a:xfrm>
            <a:off x="6309360" y="1371600"/>
            <a:ext cx="5120640" cy="493776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The Technical Challenge</a:t>
            </a:r>
          </a:p>
          <a:p>
            <a:pPr>
              <a:spcAft>
                <a:spcPts val="600"/>
              </a:spcAft>
              <a:defRPr sz="1100">
                <a:solidFill>
                  <a:srgbClr val="1E293B"/>
                </a:solidFill>
              </a:defRPr>
            </a:pPr>
            <a:r>
              <a:t>• Legacy YAML Sprawl: Unparameterized, static manifests hardcoded to wrong namespaces ('default' vs 'lab').</a:t>
            </a:r>
          </a:p>
          <a:p>
            <a:pPr>
              <a:spcAft>
                <a:spcPts val="600"/>
              </a:spcAft>
              <a:defRPr sz="1100">
                <a:solidFill>
                  <a:srgbClr val="1E293B"/>
                </a:solidFill>
              </a:defRPr>
            </a:pPr>
            <a:r>
              <a:t>• Storage Contention: Multiple replicas mounted to a single AWS EBS volume (ReadWriteOnce) causing Multi-Attach failures.</a:t>
            </a:r>
          </a:p>
          <a:p>
            <a:pPr>
              <a:spcAft>
                <a:spcPts val="600"/>
              </a:spcAft>
              <a:defRPr sz="1100">
                <a:solidFill>
                  <a:srgbClr val="1E293B"/>
                </a:solidFill>
              </a:defRPr>
            </a:pPr>
            <a:r>
              <a:t>• Autoscaling Breakdown: HPA v1 misconfigured without mandatory CPU requests, preventing dynamic scaling.</a:t>
            </a:r>
          </a:p>
          <a:p>
            <a:pPr>
              <a:spcAft>
                <a:spcPts val="600"/>
              </a:spcAft>
              <a:defRPr sz="1100">
                <a:solidFill>
                  <a:srgbClr val="1E293B"/>
                </a:solidFill>
              </a:defRPr>
            </a:pPr>
            <a:r>
              <a:t>• Security Exposure: Containers running as root with excessive cluster pod deletion privileges.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2. Technology Stack &amp; Enterprise Tooling</a:t>
            </a:r>
          </a:p>
        </p:txBody>
      </p:sp>
      <p:sp>
        <p:nvSpPr>
          <p:cNvPr id="3" name="Rounded Rectangle 2"/>
          <p:cNvSpPr/>
          <p:nvPr/>
        </p:nvSpPr>
        <p:spPr>
          <a:xfrm>
            <a:off x="731520" y="1371600"/>
            <a:ext cx="3291840" cy="2194560"/>
          </a:xfrm>
          <a:prstGeom prst="roundRect">
            <a:avLst/>
          </a:prstGeom>
          <a:solidFill>
            <a:srgbClr val="FFFFFF"/>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AWS EKS</a:t>
            </a:r>
          </a:p>
          <a:p>
            <a:pPr>
              <a:spcAft>
                <a:spcPts val="600"/>
              </a:spcAft>
              <a:defRPr sz="1100">
                <a:solidFill>
                  <a:srgbClr val="1E293B"/>
                </a:solidFill>
              </a:defRPr>
            </a:pPr>
            <a:r>
              <a:t>• Managed Kubernetes Control Plane with 99.95% SLA, multi-AZ etcd replication, and VPC CNI integration.</a:t>
            </a:r>
          </a:p>
        </p:txBody>
      </p:sp>
      <p:sp>
        <p:nvSpPr>
          <p:cNvPr id="4" name="Rounded Rectangle 3"/>
          <p:cNvSpPr/>
          <p:nvPr/>
        </p:nvSpPr>
        <p:spPr>
          <a:xfrm>
            <a:off x="4297680" y="1371600"/>
            <a:ext cx="3291840" cy="219456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Helm v3</a:t>
            </a:r>
          </a:p>
          <a:p>
            <a:pPr>
              <a:spcAft>
                <a:spcPts val="600"/>
              </a:spcAft>
              <a:defRPr sz="1100">
                <a:solidFill>
                  <a:srgbClr val="1E293B"/>
                </a:solidFill>
              </a:defRPr>
            </a:pPr>
            <a:r>
              <a:t>• Kubernetes package management, parameterization via values.yaml, and release versioning.</a:t>
            </a:r>
          </a:p>
        </p:txBody>
      </p:sp>
      <p:sp>
        <p:nvSpPr>
          <p:cNvPr id="5" name="Rounded Rectangle 4"/>
          <p:cNvSpPr/>
          <p:nvPr/>
        </p:nvSpPr>
        <p:spPr>
          <a:xfrm>
            <a:off x="7863840" y="1371600"/>
            <a:ext cx="3291840" cy="2194560"/>
          </a:xfrm>
          <a:prstGeom prst="roundRect">
            <a:avLst/>
          </a:prstGeom>
          <a:solidFill>
            <a:srgbClr val="FFFFFF"/>
          </a:solidFill>
          <a:ln w="19050">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Kubernetes HPA v2</a:t>
            </a:r>
          </a:p>
          <a:p>
            <a:pPr>
              <a:spcAft>
                <a:spcPts val="600"/>
              </a:spcAft>
              <a:defRPr sz="1100">
                <a:solidFill>
                  <a:srgbClr val="1E293B"/>
                </a:solidFill>
              </a:defRPr>
            </a:pPr>
            <a:r>
              <a:t>• Dynamic horizontal elasticity with dual CPU/Memory metrics and stabilization behavior.</a:t>
            </a:r>
          </a:p>
        </p:txBody>
      </p:sp>
      <p:sp>
        <p:nvSpPr>
          <p:cNvPr id="6" name="Rounded Rectangle 5"/>
          <p:cNvSpPr/>
          <p:nvPr/>
        </p:nvSpPr>
        <p:spPr>
          <a:xfrm>
            <a:off x="731520" y="3840480"/>
            <a:ext cx="3291840" cy="2194560"/>
          </a:xfrm>
          <a:prstGeom prst="roundRect">
            <a:avLst/>
          </a:prstGeom>
          <a:solidFill>
            <a:srgbClr val="FFFFFF"/>
          </a:solidFill>
          <a:ln w="1905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AWS EBS CSI Driver</a:t>
            </a:r>
          </a:p>
          <a:p>
            <a:pPr>
              <a:spcAft>
                <a:spcPts val="600"/>
              </a:spcAft>
              <a:defRPr sz="1100">
                <a:solidFill>
                  <a:srgbClr val="1E293B"/>
                </a:solidFill>
              </a:defRPr>
            </a:pPr>
            <a:r>
              <a:t>• Dynamic gp3 block storage provisioning with WaitForFirstConsumer AZ binding.</a:t>
            </a:r>
          </a:p>
        </p:txBody>
      </p:sp>
      <p:sp>
        <p:nvSpPr>
          <p:cNvPr id="7" name="Rounded Rectangle 6"/>
          <p:cNvSpPr/>
          <p:nvPr/>
        </p:nvSpPr>
        <p:spPr>
          <a:xfrm>
            <a:off x="4297680" y="3840480"/>
            <a:ext cx="3291840" cy="2194560"/>
          </a:xfrm>
          <a:prstGeom prst="roundRect">
            <a:avLst/>
          </a:prstGeom>
          <a:solidFill>
            <a:srgbClr val="FFFFFF"/>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AWS Network LB</a:t>
            </a:r>
          </a:p>
          <a:p>
            <a:pPr>
              <a:spcAft>
                <a:spcPts val="600"/>
              </a:spcAft>
              <a:defRPr sz="1100">
                <a:solidFill>
                  <a:srgbClr val="1E293B"/>
                </a:solidFill>
              </a:defRPr>
            </a:pPr>
            <a:r>
              <a:t>• Ultra-low latency Layer 4 load balancing with cross-zone failover and instance targets.</a:t>
            </a:r>
          </a:p>
        </p:txBody>
      </p:sp>
      <p:sp>
        <p:nvSpPr>
          <p:cNvPr id="8" name="Rounded Rectangle 7"/>
          <p:cNvSpPr/>
          <p:nvPr/>
        </p:nvSpPr>
        <p:spPr>
          <a:xfrm>
            <a:off x="7863840" y="3840480"/>
            <a:ext cx="3291840" cy="2194560"/>
          </a:xfrm>
          <a:prstGeom prst="roundRect">
            <a:avLst/>
          </a:prstGeom>
          <a:solidFill>
            <a:srgbClr val="FFFFFF"/>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Apache HTTP Server</a:t>
            </a:r>
          </a:p>
          <a:p>
            <a:pPr>
              <a:spcAft>
                <a:spcPts val="600"/>
              </a:spcAft>
              <a:defRPr sz="1100">
                <a:solidFill>
                  <a:srgbClr val="1E293B"/>
                </a:solidFill>
              </a:defRPr>
            </a:pPr>
            <a:r>
              <a:t>• Hardened web server container running as unprivileged UID 10001 with dropped capabilities.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3. High-Level Architecture &amp; End-to-End Traffic Flow</a:t>
            </a:r>
          </a:p>
        </p:txBody>
      </p:sp>
      <p:pic>
        <p:nvPicPr>
          <p:cNvPr id="3" name="Picture 2" descr="architecture.png"/>
          <p:cNvPicPr>
            <a:picLocks noChangeAspect="1"/>
          </p:cNvPicPr>
          <p:nvPr/>
        </p:nvPicPr>
        <p:blipFill>
          <a:blip r:embed="rId2"/>
          <a:stretch>
            <a:fillRect/>
          </a:stretch>
        </p:blipFill>
        <p:spPr>
          <a:xfrm>
            <a:off x="731520" y="1280160"/>
            <a:ext cx="7772400" cy="5120640"/>
          </a:xfrm>
          <a:prstGeom prst="rect">
            <a:avLst/>
          </a:prstGeom>
        </p:spPr>
      </p:pic>
      <p:sp>
        <p:nvSpPr>
          <p:cNvPr id="4" name="Rounded Rectangle 3"/>
          <p:cNvSpPr/>
          <p:nvPr/>
        </p:nvSpPr>
        <p:spPr>
          <a:xfrm>
            <a:off x="8778240" y="1280160"/>
            <a:ext cx="2743200" cy="512064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Core Flow Summary</a:t>
            </a:r>
          </a:p>
          <a:p>
            <a:pPr>
              <a:spcAft>
                <a:spcPts val="600"/>
              </a:spcAft>
              <a:defRPr sz="1100">
                <a:solidFill>
                  <a:srgbClr val="1E293B"/>
                </a:solidFill>
              </a:defRPr>
            </a:pPr>
            <a:r>
              <a:t>• Traffic Ingress: User -&gt; AWS NLB -&gt; K8s Service -&gt; Pods.</a:t>
            </a:r>
          </a:p>
          <a:p>
            <a:pPr>
              <a:spcAft>
                <a:spcPts val="600"/>
              </a:spcAft>
              <a:defRPr sz="1100">
                <a:solidFill>
                  <a:srgbClr val="1E293B"/>
                </a:solidFill>
              </a:defRPr>
            </a:pPr>
            <a:r>
              <a:t>• Scheduling: Dedicated frontend nodes via taints &amp; tolerations.</a:t>
            </a:r>
          </a:p>
          <a:p>
            <a:pPr>
              <a:spcAft>
                <a:spcPts val="600"/>
              </a:spcAft>
              <a:defRPr sz="1100">
                <a:solidFill>
                  <a:srgbClr val="1E293B"/>
                </a:solidFill>
              </a:defRPr>
            </a:pPr>
            <a:r>
              <a:t>• Elasticity: HPA v2 queries Metrics Server to autoscale pods 2 to 10.</a:t>
            </a:r>
          </a:p>
          <a:p>
            <a:pPr>
              <a:spcAft>
                <a:spcPts val="600"/>
              </a:spcAft>
              <a:defRPr sz="1100">
                <a:solidFill>
                  <a:srgbClr val="1E293B"/>
                </a:solidFill>
              </a:defRPr>
            </a:pPr>
            <a:r>
              <a:t>• Storage: Dynamic EBS gp3 volume attached via AWS CSI driver.</a:t>
            </a:r>
          </a:p>
          <a:p>
            <a:pPr>
              <a:spcAft>
                <a:spcPts val="600"/>
              </a:spcAft>
              <a:defRPr sz="1100">
                <a:solidFill>
                  <a:srgbClr val="1E293B"/>
                </a:solidFill>
              </a:defRPr>
            </a:pPr>
            <a:r>
              <a:t>• RBAC: Least-privilege ServiceAccount with token automount disabled.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4. AWS EKS Cluster Topology &amp; Isolation</a:t>
            </a:r>
          </a:p>
        </p:txBody>
      </p:sp>
      <p:sp>
        <p:nvSpPr>
          <p:cNvPr id="3" name="Rounded Rectangle 2"/>
          <p:cNvSpPr/>
          <p:nvPr/>
        </p:nvSpPr>
        <p:spPr>
          <a:xfrm>
            <a:off x="731520" y="1371600"/>
            <a:ext cx="5120640" cy="4937760"/>
          </a:xfrm>
          <a:prstGeom prst="roundRect">
            <a:avLst/>
          </a:prstGeom>
          <a:solidFill>
            <a:srgbClr val="FFFFFF"/>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Node Group Architecture</a:t>
            </a:r>
          </a:p>
          <a:p>
            <a:pPr>
              <a:spcAft>
                <a:spcPts val="600"/>
              </a:spcAft>
              <a:defRPr sz="1100">
                <a:solidFill>
                  <a:srgbClr val="1E293B"/>
                </a:solidFill>
              </a:defRPr>
            </a:pPr>
            <a:r>
              <a:t>• Multi-AZ Deployment: Worker nodes distributed across us-east-1a and us-east-1b for high availability.</a:t>
            </a:r>
          </a:p>
          <a:p>
            <a:pPr>
              <a:spcAft>
                <a:spcPts val="600"/>
              </a:spcAft>
              <a:defRPr sz="1100">
                <a:solidFill>
                  <a:srgbClr val="1E293B"/>
                </a:solidFill>
              </a:defRPr>
            </a:pPr>
            <a:r>
              <a:t>• Workload Taints: Dedicated node groups tainted with 'dedicated=frontend:NoSchedule'.</a:t>
            </a:r>
          </a:p>
          <a:p>
            <a:pPr>
              <a:spcAft>
                <a:spcPts val="600"/>
              </a:spcAft>
              <a:defRPr sz="1100">
                <a:solidFill>
                  <a:srgbClr val="1E293B"/>
                </a:solidFill>
              </a:defRPr>
            </a:pPr>
            <a:r>
              <a:t>• Node Affinity: Pods declare soft affinity ('preferredDuringScheduling') to production-labeled instances.</a:t>
            </a:r>
          </a:p>
          <a:p>
            <a:pPr>
              <a:spcAft>
                <a:spcPts val="600"/>
              </a:spcAft>
              <a:defRPr sz="1100">
                <a:solidFill>
                  <a:srgbClr val="1E293B"/>
                </a:solidFill>
              </a:defRPr>
            </a:pPr>
            <a:r>
              <a:t>• Auto-Healing: AWS EKS Managed Node Groups automatically replace degraded EC2 instances.</a:t>
            </a:r>
          </a:p>
        </p:txBody>
      </p:sp>
      <p:sp>
        <p:nvSpPr>
          <p:cNvPr id="4" name="Rounded Rectangle 3"/>
          <p:cNvSpPr/>
          <p:nvPr/>
        </p:nvSpPr>
        <p:spPr>
          <a:xfrm>
            <a:off x="6309360" y="1371600"/>
            <a:ext cx="5120640" cy="4937760"/>
          </a:xfrm>
          <a:prstGeom prst="roundRect">
            <a:avLst/>
          </a:prstGeom>
          <a:solidFill>
            <a:srgbClr val="FFFFFF"/>
          </a:solidFill>
          <a:ln w="1905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Networking &amp; Security Perimeter</a:t>
            </a:r>
          </a:p>
          <a:p>
            <a:pPr>
              <a:spcAft>
                <a:spcPts val="600"/>
              </a:spcAft>
              <a:defRPr sz="1100">
                <a:solidFill>
                  <a:srgbClr val="1E293B"/>
                </a:solidFill>
              </a:defRPr>
            </a:pPr>
            <a:r>
              <a:t>• AWS VPC CNI: Native VPC IP allocation per pod, eliminating overlay network translation overhead.</a:t>
            </a:r>
          </a:p>
          <a:p>
            <a:pPr>
              <a:spcAft>
                <a:spcPts val="600"/>
              </a:spcAft>
              <a:defRPr sz="1100">
                <a:solidFill>
                  <a:srgbClr val="1E293B"/>
                </a:solidFill>
              </a:defRPr>
            </a:pPr>
            <a:r>
              <a:t>• Security Groups for Pods: Direct ENI binding allowing granular firewall rules per microservice.</a:t>
            </a:r>
          </a:p>
          <a:p>
            <a:pPr>
              <a:spcAft>
                <a:spcPts val="600"/>
              </a:spcAft>
              <a:defRPr sz="1100">
                <a:solidFill>
                  <a:srgbClr val="1E293B"/>
                </a:solidFill>
              </a:defRPr>
            </a:pPr>
            <a:r>
              <a:t>• Private API Server: EKS control plane accessible via VPN/DirectConnect with public endpoint restricted.</a:t>
            </a:r>
          </a:p>
          <a:p>
            <a:pPr>
              <a:spcAft>
                <a:spcPts val="600"/>
              </a:spcAft>
              <a:defRPr sz="1100">
                <a:solidFill>
                  <a:srgbClr val="1E293B"/>
                </a:solidFill>
              </a:defRPr>
            </a:pPr>
            <a:r>
              <a:t>• AWS OIDC Identity: Native federation enabling IAM Roles for Service Accounts (IRSA).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5. Helm Chart Structure &amp; Templating Best Practices</a:t>
            </a:r>
          </a:p>
        </p:txBody>
      </p:sp>
      <p:sp>
        <p:nvSpPr>
          <p:cNvPr id="3" name="Rounded Rectangle 2"/>
          <p:cNvSpPr/>
          <p:nvPr/>
        </p:nvSpPr>
        <p:spPr>
          <a:xfrm>
            <a:off x="731520" y="1371600"/>
            <a:ext cx="5120640" cy="493776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Standardized Repository Hierarchy</a:t>
            </a:r>
          </a:p>
          <a:p>
            <a:pPr>
              <a:spcAft>
                <a:spcPts val="600"/>
              </a:spcAft>
              <a:defRPr sz="1100">
                <a:solidFill>
                  <a:srgbClr val="1E293B"/>
                </a:solidFill>
              </a:defRPr>
            </a:pPr>
            <a:r>
              <a:t>• Chart.yaml: Semantic chart metadata (v2 API, appVersion 2.4.58).</a:t>
            </a:r>
          </a:p>
          <a:p>
            <a:pPr>
              <a:spcAft>
                <a:spcPts val="600"/>
              </a:spcAft>
              <a:defRPr sz="1100">
                <a:solidFill>
                  <a:srgbClr val="1E293B"/>
                </a:solidFill>
              </a:defRPr>
            </a:pPr>
            <a:r>
              <a:t>• values.yaml: Self-documenting, production-grade default values.</a:t>
            </a:r>
          </a:p>
          <a:p>
            <a:pPr>
              <a:spcAft>
                <a:spcPts val="600"/>
              </a:spcAft>
              <a:defRPr sz="1100">
                <a:solidFill>
                  <a:srgbClr val="1E293B"/>
                </a:solidFill>
              </a:defRPr>
            </a:pPr>
            <a:r>
              <a:t>• templates/_helpers.tpl: Reusable template functions for labels and naming.</a:t>
            </a:r>
          </a:p>
          <a:p>
            <a:pPr>
              <a:spcAft>
                <a:spcPts val="600"/>
              </a:spcAft>
              <a:defRPr sz="1100">
                <a:solidFill>
                  <a:srgbClr val="1E293B"/>
                </a:solidFill>
              </a:defRPr>
            </a:pPr>
            <a:r>
              <a:t>• templates/*.yaml: Declarative manifests for Deployment, Service, HPA, RBAC, Storage, and PDB.</a:t>
            </a:r>
          </a:p>
          <a:p>
            <a:pPr>
              <a:spcAft>
                <a:spcPts val="600"/>
              </a:spcAft>
              <a:defRPr sz="1100">
                <a:solidFill>
                  <a:srgbClr val="1E293B"/>
                </a:solidFill>
              </a:defRPr>
            </a:pPr>
            <a:r>
              <a:t>• NOTES.txt: Post-installation verification commands.</a:t>
            </a:r>
          </a:p>
        </p:txBody>
      </p:sp>
      <p:sp>
        <p:nvSpPr>
          <p:cNvPr id="4" name="Rounded Rectangle 3"/>
          <p:cNvSpPr/>
          <p:nvPr/>
        </p:nvSpPr>
        <p:spPr>
          <a:xfrm>
            <a:off x="6309360" y="1371600"/>
            <a:ext cx="5120640" cy="493776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Templating Improvements</a:t>
            </a:r>
          </a:p>
          <a:p>
            <a:pPr>
              <a:spcAft>
                <a:spcPts val="600"/>
              </a:spcAft>
              <a:defRPr sz="1100">
                <a:solidFill>
                  <a:srgbClr val="1E293B"/>
                </a:solidFill>
              </a:defRPr>
            </a:pPr>
            <a:r>
              <a:t>• Dynamic Namespaces: Eliminated hardcoded 'default' and 'lab'; standardized on {{ .Release.Namespace }}.</a:t>
            </a:r>
          </a:p>
          <a:p>
            <a:pPr>
              <a:spcAft>
                <a:spcPts val="600"/>
              </a:spcAft>
              <a:defRPr sz="1100">
                <a:solidFill>
                  <a:srgbClr val="1E293B"/>
                </a:solidFill>
              </a:defRPr>
            </a:pPr>
            <a:r>
              <a:t>• Standard Labeling: Applied Kubernetes recommended labels ('app.kubernetes.io/*') across all objects.</a:t>
            </a:r>
          </a:p>
          <a:p>
            <a:pPr>
              <a:spcAft>
                <a:spcPts val="600"/>
              </a:spcAft>
              <a:defRPr sz="1100">
                <a:solidFill>
                  <a:srgbClr val="1E293B"/>
                </a:solidFill>
              </a:defRPr>
            </a:pPr>
            <a:r>
              <a:t>• Schema Compliance: Fixed roleRef schema from invalid list to correct map syntax.</a:t>
            </a:r>
          </a:p>
          <a:p>
            <a:pPr>
              <a:spcAft>
                <a:spcPts val="600"/>
              </a:spcAft>
              <a:defRPr sz="1100">
                <a:solidFill>
                  <a:srgbClr val="1E293B"/>
                </a:solidFill>
              </a:defRPr>
            </a:pPr>
            <a:r>
              <a:t>• Modular Toggles: Configurable flags for storage, autoscaling, RBAC, and security contexts.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6. Deployment Architecture &amp; Pod Lifecycle</a:t>
            </a:r>
          </a:p>
        </p:txBody>
      </p:sp>
      <p:sp>
        <p:nvSpPr>
          <p:cNvPr id="3" name="Rounded Rectangle 2"/>
          <p:cNvSpPr/>
          <p:nvPr/>
        </p:nvSpPr>
        <p:spPr>
          <a:xfrm>
            <a:off x="731520" y="1371600"/>
            <a:ext cx="5120640" cy="493776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Deployment Specification</a:t>
            </a:r>
          </a:p>
          <a:p>
            <a:pPr>
              <a:spcAft>
                <a:spcPts val="600"/>
              </a:spcAft>
              <a:defRPr sz="1100">
                <a:solidFill>
                  <a:srgbClr val="1E293B"/>
                </a:solidFill>
              </a:defRPr>
            </a:pPr>
            <a:r>
              <a:t>• Target Image: someshtarra/httpd:fox-3D (Apache HTTP Server).</a:t>
            </a:r>
          </a:p>
          <a:p>
            <a:pPr>
              <a:spcAft>
                <a:spcPts val="600"/>
              </a:spcAft>
              <a:defRPr sz="1100">
                <a:solidFill>
                  <a:srgbClr val="1E293B"/>
                </a:solidFill>
              </a:defRPr>
            </a:pPr>
            <a:r>
              <a:t>• Resource QoS: Configured with Burstable QoS class (200m CPU / 128Mi RAM requests).</a:t>
            </a:r>
          </a:p>
          <a:p>
            <a:pPr>
              <a:spcAft>
                <a:spcPts val="600"/>
              </a:spcAft>
              <a:defRPr sz="1100">
                <a:solidFill>
                  <a:srgbClr val="1E293B"/>
                </a:solidFill>
              </a:defRPr>
            </a:pPr>
            <a:r>
              <a:t>• Non-Root User: Runs explicitly as UID 10001 with GID 10001.</a:t>
            </a:r>
          </a:p>
          <a:p>
            <a:pPr>
              <a:spcAft>
                <a:spcPts val="600"/>
              </a:spcAft>
              <a:defRPr sz="1100">
                <a:solidFill>
                  <a:srgbClr val="1E293B"/>
                </a:solidFill>
              </a:defRPr>
            </a:pPr>
            <a:r>
              <a:t>• RollingUpdate: maxSurge: 1, maxUnavailable: 0 to guarantee zero downtime during releases.</a:t>
            </a:r>
          </a:p>
        </p:txBody>
      </p:sp>
      <p:sp>
        <p:nvSpPr>
          <p:cNvPr id="4" name="Rounded Rectangle 3"/>
          <p:cNvSpPr/>
          <p:nvPr/>
        </p:nvSpPr>
        <p:spPr>
          <a:xfrm>
            <a:off x="6309360" y="1371600"/>
            <a:ext cx="5120640" cy="4937760"/>
          </a:xfrm>
          <a:prstGeom prst="roundRect">
            <a:avLst/>
          </a:prstGeom>
          <a:solidFill>
            <a:srgbClr val="FFFFFF"/>
          </a:solidFill>
          <a:ln w="1905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Pod Resilience &amp; Placement</a:t>
            </a:r>
          </a:p>
          <a:p>
            <a:pPr>
              <a:spcAft>
                <a:spcPts val="600"/>
              </a:spcAft>
              <a:defRPr sz="1100">
                <a:solidFill>
                  <a:srgbClr val="1E293B"/>
                </a:solidFill>
              </a:defRPr>
            </a:pPr>
            <a:r>
              <a:t>• Tolerations: Matches 'dedicated=frontend:NoSchedule' taints.</a:t>
            </a:r>
          </a:p>
          <a:p>
            <a:pPr>
              <a:spcAft>
                <a:spcPts val="600"/>
              </a:spcAft>
              <a:defRPr sz="1100">
                <a:solidFill>
                  <a:srgbClr val="1E293B"/>
                </a:solidFill>
              </a:defRPr>
            </a:pPr>
            <a:r>
              <a:t>• PodDisruptionBudget: Guarantees at least 1 pod is always available during node maintenance.</a:t>
            </a:r>
          </a:p>
          <a:p>
            <a:pPr>
              <a:spcAft>
                <a:spcPts val="600"/>
              </a:spcAft>
              <a:defRPr sz="1100">
                <a:solidFill>
                  <a:srgbClr val="1E293B"/>
                </a:solidFill>
              </a:defRPr>
            </a:pPr>
            <a:r>
              <a:t>• Volume Mounts: Conditionally mounts persistent storage at /var/www/html/.</a:t>
            </a:r>
          </a:p>
          <a:p>
            <a:pPr>
              <a:spcAft>
                <a:spcPts val="600"/>
              </a:spcAft>
              <a:defRPr sz="1100">
                <a:solidFill>
                  <a:srgbClr val="1E293B"/>
                </a:solidFill>
              </a:defRPr>
            </a:pPr>
            <a:r>
              <a:t>• Topology Spread: Distributes pods across distinct nodes and availability zones.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7. Kubernetes Service &amp; AWS Load Balancer</a:t>
            </a:r>
          </a:p>
        </p:txBody>
      </p:sp>
      <p:sp>
        <p:nvSpPr>
          <p:cNvPr id="3" name="Rounded Rectangle 2"/>
          <p:cNvSpPr/>
          <p:nvPr/>
        </p:nvSpPr>
        <p:spPr>
          <a:xfrm>
            <a:off x="731520" y="1371600"/>
            <a:ext cx="5120640" cy="493776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Service Layer Configuration</a:t>
            </a:r>
          </a:p>
          <a:p>
            <a:pPr>
              <a:spcAft>
                <a:spcPts val="600"/>
              </a:spcAft>
              <a:defRPr sz="1100">
                <a:solidFill>
                  <a:srgbClr val="1E293B"/>
                </a:solidFill>
              </a:defRPr>
            </a:pPr>
            <a:r>
              <a:t>• Service Type: LoadBalancer (Port 80 -&gt; TargetPort 80).</a:t>
            </a:r>
          </a:p>
          <a:p>
            <a:pPr>
              <a:spcAft>
                <a:spcPts val="600"/>
              </a:spcAft>
              <a:defRPr sz="1100">
                <a:solidFill>
                  <a:srgbClr val="1E293B"/>
                </a:solidFill>
              </a:defRPr>
            </a:pPr>
            <a:r>
              <a:t>• Selector Match: Strictly aligned with deployment pod template labels.</a:t>
            </a:r>
          </a:p>
          <a:p>
            <a:pPr>
              <a:spcAft>
                <a:spcPts val="600"/>
              </a:spcAft>
              <a:defRPr sz="1100">
                <a:solidFill>
                  <a:srgbClr val="1E293B"/>
                </a:solidFill>
              </a:defRPr>
            </a:pPr>
            <a:r>
              <a:t>• Endpoint Management: Endpoints automatically updated based on readinessProbe status.</a:t>
            </a:r>
          </a:p>
          <a:p>
            <a:pPr>
              <a:spcAft>
                <a:spcPts val="600"/>
              </a:spcAft>
              <a:defRPr sz="1100">
                <a:solidFill>
                  <a:srgbClr val="1E293B"/>
                </a:solidFill>
              </a:defRPr>
            </a:pPr>
            <a:r>
              <a:t>• Multi-Port Support: Easily extendable to HTTPS (Port 443) with ACM certificate binding.</a:t>
            </a:r>
          </a:p>
        </p:txBody>
      </p:sp>
      <p:sp>
        <p:nvSpPr>
          <p:cNvPr id="4" name="Rounded Rectangle 3"/>
          <p:cNvSpPr/>
          <p:nvPr/>
        </p:nvSpPr>
        <p:spPr>
          <a:xfrm>
            <a:off x="6309360" y="1371600"/>
            <a:ext cx="5120640" cy="4937760"/>
          </a:xfrm>
          <a:prstGeom prst="roundRect">
            <a:avLst/>
          </a:prstGeom>
          <a:solidFill>
            <a:srgbClr val="FFFFFF"/>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AWS NLB Controller Annotations</a:t>
            </a:r>
          </a:p>
          <a:p>
            <a:pPr>
              <a:spcAft>
                <a:spcPts val="600"/>
              </a:spcAft>
              <a:defRPr sz="1100">
                <a:solidFill>
                  <a:srgbClr val="1E293B"/>
                </a:solidFill>
              </a:defRPr>
            </a:pPr>
            <a:r>
              <a:t>• aws-load-balancer-type: 'external' — Provisions modern AWS Network Load Balancer.</a:t>
            </a:r>
          </a:p>
          <a:p>
            <a:pPr>
              <a:spcAft>
                <a:spcPts val="600"/>
              </a:spcAft>
              <a:defRPr sz="1100">
                <a:solidFill>
                  <a:srgbClr val="1E293B"/>
                </a:solidFill>
              </a:defRPr>
            </a:pPr>
            <a:r>
              <a:t>• aws-load-balancer-nlb-target-type: 'instance' — Routes directly to node instance targets.</a:t>
            </a:r>
          </a:p>
          <a:p>
            <a:pPr>
              <a:spcAft>
                <a:spcPts val="600"/>
              </a:spcAft>
              <a:defRPr sz="1100">
                <a:solidFill>
                  <a:srgbClr val="1E293B"/>
                </a:solidFill>
              </a:defRPr>
            </a:pPr>
            <a:r>
              <a:t>• aws-load-balancer-scheme: 'internet-facing' — Enables public client connectivity.</a:t>
            </a:r>
          </a:p>
          <a:p>
            <a:pPr>
              <a:spcAft>
                <a:spcPts val="600"/>
              </a:spcAft>
              <a:defRPr sz="1100">
                <a:solidFill>
                  <a:srgbClr val="1E293B"/>
                </a:solidFill>
              </a:defRPr>
            </a:pPr>
            <a:r>
              <a:t>• Performance Advantage: Layer 4 NLB handles millions of requests/sec with ultra-low latency.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8. Horizontal Pod Autoscaler (HPA v2) Mechanics</a:t>
            </a:r>
          </a:p>
        </p:txBody>
      </p:sp>
      <p:pic>
        <p:nvPicPr>
          <p:cNvPr id="3" name="Picture 2" descr="hpa-flow.png"/>
          <p:cNvPicPr>
            <a:picLocks noChangeAspect="1"/>
          </p:cNvPicPr>
          <p:nvPr/>
        </p:nvPicPr>
        <p:blipFill>
          <a:blip r:embed="rId2"/>
          <a:stretch>
            <a:fillRect/>
          </a:stretch>
        </p:blipFill>
        <p:spPr>
          <a:xfrm>
            <a:off x="731520" y="1280160"/>
            <a:ext cx="7772400" cy="5120640"/>
          </a:xfrm>
          <a:prstGeom prst="rect">
            <a:avLst/>
          </a:prstGeom>
        </p:spPr>
      </p:pic>
      <p:sp>
        <p:nvSpPr>
          <p:cNvPr id="4" name="Rounded Rectangle 3"/>
          <p:cNvSpPr/>
          <p:nvPr/>
        </p:nvSpPr>
        <p:spPr>
          <a:xfrm>
            <a:off x="8778240" y="1280160"/>
            <a:ext cx="2743200" cy="5120640"/>
          </a:xfrm>
          <a:prstGeom prst="roundRect">
            <a:avLst/>
          </a:prstGeom>
          <a:solidFill>
            <a:srgbClr val="FFFFFF"/>
          </a:solidFill>
          <a:ln w="19050">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HPA Scaling Logic</a:t>
            </a:r>
          </a:p>
          <a:p>
            <a:pPr>
              <a:spcAft>
                <a:spcPts val="600"/>
              </a:spcAft>
              <a:defRPr sz="1100">
                <a:solidFill>
                  <a:srgbClr val="1E293B"/>
                </a:solidFill>
              </a:defRPr>
            </a:pPr>
            <a:r>
              <a:t>• Telemetry: Metrics Server scrapes kubelet /metrics/resource.</a:t>
            </a:r>
          </a:p>
          <a:p>
            <a:pPr>
              <a:spcAft>
                <a:spcPts val="600"/>
              </a:spcAft>
              <a:defRPr sz="1100">
                <a:solidFill>
                  <a:srgbClr val="1E293B"/>
                </a:solidFill>
              </a:defRPr>
            </a:pPr>
            <a:r>
              <a:t>• Sync Period: Controller evaluates every 15 seconds.</a:t>
            </a:r>
          </a:p>
          <a:p>
            <a:pPr>
              <a:spcAft>
                <a:spcPts val="600"/>
              </a:spcAft>
              <a:defRPr sz="1100">
                <a:solidFill>
                  <a:srgbClr val="1E293B"/>
                </a:solidFill>
              </a:defRPr>
            </a:pPr>
            <a:r>
              <a:t>• Target: Scales up when average CPU &gt; 50% or RAM &gt; 80%.</a:t>
            </a:r>
          </a:p>
          <a:p>
            <a:pPr>
              <a:spcAft>
                <a:spcPts val="600"/>
              </a:spcAft>
              <a:defRPr sz="1100">
                <a:solidFill>
                  <a:srgbClr val="1E293B"/>
                </a:solidFill>
              </a:defRPr>
            </a:pPr>
            <a:r>
              <a:t>• Scale Range: Dynamically scales between 2 and 10 replicas.</a:t>
            </a:r>
          </a:p>
          <a:p>
            <a:pPr>
              <a:spcAft>
                <a:spcPts val="600"/>
              </a:spcAft>
              <a:defRPr sz="1100">
                <a:solidFill>
                  <a:srgbClr val="1E293B"/>
                </a:solidFill>
              </a:defRPr>
            </a:pPr>
            <a:r>
              <a:t>• Stabilization: 300s scale-down delay prevents thrashing.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9. CPU Requests, Limits &amp; Telemetry Mathematics</a:t>
            </a:r>
          </a:p>
        </p:txBody>
      </p:sp>
      <p:sp>
        <p:nvSpPr>
          <p:cNvPr id="3" name="Rounded Rectangle 2"/>
          <p:cNvSpPr/>
          <p:nvPr/>
        </p:nvSpPr>
        <p:spPr>
          <a:xfrm>
            <a:off x="731520" y="1371600"/>
            <a:ext cx="5120640" cy="4937760"/>
          </a:xfrm>
          <a:prstGeom prst="roundRect">
            <a:avLst/>
          </a:prstGeom>
          <a:solidFill>
            <a:srgbClr val="FFFFFF"/>
          </a:solidFill>
          <a:ln w="19050">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The HPA Formula &amp; CPU Requests</a:t>
            </a:r>
          </a:p>
          <a:p>
            <a:pPr>
              <a:spcAft>
                <a:spcPts val="600"/>
              </a:spcAft>
              <a:defRPr sz="1100">
                <a:solidFill>
                  <a:srgbClr val="1E293B"/>
                </a:solidFill>
              </a:defRPr>
            </a:pPr>
            <a:r>
              <a:t>• Mathematical Formula: Desired = ceil(Current * (CurrentUsage / TargetUsage)).</a:t>
            </a:r>
          </a:p>
          <a:p>
            <a:pPr>
              <a:spcAft>
                <a:spcPts val="600"/>
              </a:spcAft>
              <a:defRPr sz="1100">
                <a:solidFill>
                  <a:srgbClr val="1E293B"/>
                </a:solidFill>
              </a:defRPr>
            </a:pPr>
            <a:r>
              <a:t>• The Utilization Ratio: CPU % = (Actual Millicores / Requested Millicores) * 100.</a:t>
            </a:r>
          </a:p>
          <a:p>
            <a:pPr>
              <a:spcAft>
                <a:spcPts val="600"/>
              </a:spcAft>
              <a:defRPr sz="1100">
                <a:solidFill>
                  <a:srgbClr val="1E293B"/>
                </a:solidFill>
              </a:defRPr>
            </a:pPr>
            <a:r>
              <a:t>• The Missing Request Pitfall: If CPU request is missing, denominator is undefined!</a:t>
            </a:r>
          </a:p>
          <a:p>
            <a:pPr>
              <a:spcAft>
                <a:spcPts val="600"/>
              </a:spcAft>
              <a:defRPr sz="1100">
                <a:solidFill>
                  <a:srgbClr val="1E293B"/>
                </a:solidFill>
              </a:defRPr>
            </a:pPr>
            <a:r>
              <a:t>• Failure State: HPA displays '&lt;unknown&gt; / 50%' and cannot autoscale.</a:t>
            </a:r>
          </a:p>
        </p:txBody>
      </p:sp>
      <p:sp>
        <p:nvSpPr>
          <p:cNvPr id="4" name="Rounded Rectangle 3"/>
          <p:cNvSpPr/>
          <p:nvPr/>
        </p:nvSpPr>
        <p:spPr>
          <a:xfrm>
            <a:off x="6309360" y="1371600"/>
            <a:ext cx="5120640" cy="493776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Requests vs. Limits (QoS Mechanics)</a:t>
            </a:r>
          </a:p>
          <a:p>
            <a:pPr>
              <a:spcAft>
                <a:spcPts val="600"/>
              </a:spcAft>
              <a:defRPr sz="1100">
                <a:solidFill>
                  <a:srgbClr val="1E293B"/>
                </a:solidFill>
              </a:defRPr>
            </a:pPr>
            <a:r>
              <a:t>• Requests (200m CPU / 128Mi RAM): Guaranteed minimum compute reserved by scheduler.</a:t>
            </a:r>
          </a:p>
          <a:p>
            <a:pPr>
              <a:spcAft>
                <a:spcPts val="600"/>
              </a:spcAft>
              <a:defRPr sz="1100">
                <a:solidFill>
                  <a:srgbClr val="1E293B"/>
                </a:solidFill>
              </a:defRPr>
            </a:pPr>
            <a:r>
              <a:t>• Limits (500m CPU / 256Mi RAM): Hard upper ceiling enforced by Linux kernel cgroups.</a:t>
            </a:r>
          </a:p>
          <a:p>
            <a:pPr>
              <a:spcAft>
                <a:spcPts val="600"/>
              </a:spcAft>
              <a:defRPr sz="1100">
                <a:solidFill>
                  <a:srgbClr val="1E293B"/>
                </a:solidFill>
              </a:defRPr>
            </a:pPr>
            <a:r>
              <a:t>• CPU Exceeded: Results in CFS quota CPU throttling (latency rises; process is NOT killed).</a:t>
            </a:r>
          </a:p>
          <a:p>
            <a:pPr>
              <a:spcAft>
                <a:spcPts val="600"/>
              </a:spcAft>
              <a:defRPr sz="1100">
                <a:solidFill>
                  <a:srgbClr val="1E293B"/>
                </a:solidFill>
              </a:defRPr>
            </a:pPr>
            <a:r>
              <a:t>• Memory Exceeded: Results in kernel OOM Killer terminating container (Exit Code 137).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10. Storage Architecture: AWS EBS &amp; CSI Driver</a:t>
            </a:r>
          </a:p>
        </p:txBody>
      </p:sp>
      <p:pic>
        <p:nvPicPr>
          <p:cNvPr id="3" name="Picture 2" descr="storage-flow.png"/>
          <p:cNvPicPr>
            <a:picLocks noChangeAspect="1"/>
          </p:cNvPicPr>
          <p:nvPr/>
        </p:nvPicPr>
        <p:blipFill>
          <a:blip r:embed="rId2"/>
          <a:stretch>
            <a:fillRect/>
          </a:stretch>
        </p:blipFill>
        <p:spPr>
          <a:xfrm>
            <a:off x="731520" y="1280160"/>
            <a:ext cx="7772400" cy="5120640"/>
          </a:xfrm>
          <a:prstGeom prst="rect">
            <a:avLst/>
          </a:prstGeom>
        </p:spPr>
      </p:pic>
      <p:sp>
        <p:nvSpPr>
          <p:cNvPr id="4" name="Rounded Rectangle 3"/>
          <p:cNvSpPr/>
          <p:nvPr/>
        </p:nvSpPr>
        <p:spPr>
          <a:xfrm>
            <a:off x="8778240" y="1280160"/>
            <a:ext cx="2743200" cy="5120640"/>
          </a:xfrm>
          <a:prstGeom prst="roundRect">
            <a:avLst/>
          </a:prstGeom>
          <a:solidFill>
            <a:srgbClr val="FFFFFF"/>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Storage Components</a:t>
            </a:r>
          </a:p>
          <a:p>
            <a:pPr>
              <a:spcAft>
                <a:spcPts val="600"/>
              </a:spcAft>
              <a:defRPr sz="1100">
                <a:solidFill>
                  <a:srgbClr val="1E293B"/>
                </a:solidFill>
              </a:defRPr>
            </a:pPr>
            <a:r>
              <a:t>• StorageClass: ebs.csi.aws.com with type: gp3.</a:t>
            </a:r>
          </a:p>
          <a:p>
            <a:pPr>
              <a:spcAft>
                <a:spcPts val="600"/>
              </a:spcAft>
              <a:defRPr sz="1100">
                <a:solidFill>
                  <a:srgbClr val="1E293B"/>
                </a:solidFill>
              </a:defRPr>
            </a:pPr>
            <a:r>
              <a:t>• Binding Mode: WaitForFirstConsumer ensures volume matches node AZ.</a:t>
            </a:r>
          </a:p>
          <a:p>
            <a:pPr>
              <a:spcAft>
                <a:spcPts val="600"/>
              </a:spcAft>
              <a:defRPr sz="1100">
                <a:solidFill>
                  <a:srgbClr val="1E293B"/>
                </a:solidFill>
              </a:defRPr>
            </a:pPr>
            <a:r>
              <a:t>• PVC: Requests 5Gi with ReadWriteOnce access mode.</a:t>
            </a:r>
          </a:p>
          <a:p>
            <a:pPr>
              <a:spcAft>
                <a:spcPts val="600"/>
              </a:spcAft>
              <a:defRPr sz="1100">
                <a:solidFill>
                  <a:srgbClr val="1E293B"/>
                </a:solidFill>
              </a:defRPr>
            </a:pPr>
            <a:r>
              <a:t>• ReclaimPolicy: Retain preserves disk upon PVC deletion.</a:t>
            </a:r>
          </a:p>
          <a:p>
            <a:pPr>
              <a:spcAft>
                <a:spcPts val="600"/>
              </a:spcAft>
              <a:defRPr sz="1100">
                <a:solidFill>
                  <a:srgbClr val="1E293B"/>
                </a:solidFill>
              </a:defRPr>
            </a:pPr>
            <a:r>
              <a:t>• Mount Path: /var/www/html/ for web assets.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11. Architectural Trade-Off: AWS EBS vs. AWS EFS</a:t>
            </a:r>
          </a:p>
        </p:txBody>
      </p:sp>
      <p:sp>
        <p:nvSpPr>
          <p:cNvPr id="3" name="Rounded Rectangle 2"/>
          <p:cNvSpPr/>
          <p:nvPr/>
        </p:nvSpPr>
        <p:spPr>
          <a:xfrm>
            <a:off x="731520" y="1371600"/>
            <a:ext cx="5120640" cy="4937760"/>
          </a:xfrm>
          <a:prstGeom prst="roundRect">
            <a:avLst/>
          </a:prstGeom>
          <a:solidFill>
            <a:srgbClr val="FFFFFF"/>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AWS EBS: ReadWriteOnce (RWO)</a:t>
            </a:r>
          </a:p>
          <a:p>
            <a:pPr>
              <a:spcAft>
                <a:spcPts val="600"/>
              </a:spcAft>
              <a:defRPr sz="1100">
                <a:solidFill>
                  <a:srgbClr val="1E293B"/>
                </a:solidFill>
              </a:defRPr>
            </a:pPr>
            <a:r>
              <a:t>• Storage Type: Block Device (Virtual SAN hard drive).</a:t>
            </a:r>
          </a:p>
          <a:p>
            <a:pPr>
              <a:spcAft>
                <a:spcPts val="600"/>
              </a:spcAft>
              <a:defRPr sz="1100">
                <a:solidFill>
                  <a:srgbClr val="1E293B"/>
                </a:solidFill>
              </a:defRPr>
            </a:pPr>
            <a:r>
              <a:t>• Node Attachment: Strictly limited to 1 EC2 instance at a time.</a:t>
            </a:r>
          </a:p>
          <a:p>
            <a:pPr>
              <a:spcAft>
                <a:spcPts val="600"/>
              </a:spcAft>
              <a:defRPr sz="1100">
                <a:solidFill>
                  <a:srgbClr val="1E293B"/>
                </a:solidFill>
              </a:defRPr>
            </a:pPr>
            <a:r>
              <a:t>• Failure Mode: Replicas on Node B fail with 'Multi-Attach error'.</a:t>
            </a:r>
          </a:p>
          <a:p>
            <a:pPr>
              <a:spcAft>
                <a:spcPts val="600"/>
              </a:spcAft>
              <a:defRPr sz="1100">
                <a:solidFill>
                  <a:srgbClr val="1E293B"/>
                </a:solidFill>
              </a:defRPr>
            </a:pPr>
            <a:r>
              <a:t>• Best Use Case: Single-replica workloads, databases (PostgreSQL, MySQL), or StatefulSets with dedicated volume per pod.</a:t>
            </a:r>
          </a:p>
        </p:txBody>
      </p:sp>
      <p:sp>
        <p:nvSpPr>
          <p:cNvPr id="4" name="Rounded Rectangle 3"/>
          <p:cNvSpPr/>
          <p:nvPr/>
        </p:nvSpPr>
        <p:spPr>
          <a:xfrm>
            <a:off x="6309360" y="1371600"/>
            <a:ext cx="5120640" cy="4937760"/>
          </a:xfrm>
          <a:prstGeom prst="roundRect">
            <a:avLst/>
          </a:prstGeom>
          <a:solidFill>
            <a:srgbClr val="FFFFFF"/>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AWS EFS: ReadWriteMany (RWX)</a:t>
            </a:r>
          </a:p>
          <a:p>
            <a:pPr>
              <a:spcAft>
                <a:spcPts val="600"/>
              </a:spcAft>
              <a:defRPr sz="1100">
                <a:solidFill>
                  <a:srgbClr val="1E293B"/>
                </a:solidFill>
              </a:defRPr>
            </a:pPr>
            <a:r>
              <a:t>• Storage Type: Managed Distributed NFSv4.1 File System.</a:t>
            </a:r>
          </a:p>
          <a:p>
            <a:pPr>
              <a:spcAft>
                <a:spcPts val="600"/>
              </a:spcAft>
              <a:defRPr sz="1100">
                <a:solidFill>
                  <a:srgbClr val="1E293B"/>
                </a:solidFill>
              </a:defRPr>
            </a:pPr>
            <a:r>
              <a:t>• Node Attachment: Concurrently mountable by 1000+ pods across all AZs.</a:t>
            </a:r>
          </a:p>
          <a:p>
            <a:pPr>
              <a:spcAft>
                <a:spcPts val="600"/>
              </a:spcAft>
              <a:defRPr sz="1100">
                <a:solidFill>
                  <a:srgbClr val="1E293B"/>
                </a:solidFill>
              </a:defRPr>
            </a:pPr>
            <a:r>
              <a:t>• Horizontal Scaling: Seamlessly scales alongside HPA replicas (2 to 10).</a:t>
            </a:r>
          </a:p>
          <a:p>
            <a:pPr>
              <a:spcAft>
                <a:spcPts val="600"/>
              </a:spcAft>
              <a:defRPr sz="1100">
                <a:solidFill>
                  <a:srgbClr val="1E293B"/>
                </a:solidFill>
              </a:defRPr>
            </a:pPr>
            <a:r>
              <a:t>• Best Use Case: Multi-replica web frontends, shared assets, CMS, and stateless cloud applications.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12. RBAC &amp; ServiceAccount Governance</a:t>
            </a:r>
          </a:p>
        </p:txBody>
      </p:sp>
      <p:pic>
        <p:nvPicPr>
          <p:cNvPr id="3" name="Picture 2" descr="rbac-flow.png"/>
          <p:cNvPicPr>
            <a:picLocks noChangeAspect="1"/>
          </p:cNvPicPr>
          <p:nvPr/>
        </p:nvPicPr>
        <p:blipFill>
          <a:blip r:embed="rId2"/>
          <a:stretch>
            <a:fillRect/>
          </a:stretch>
        </p:blipFill>
        <p:spPr>
          <a:xfrm>
            <a:off x="731520" y="1280160"/>
            <a:ext cx="7772400" cy="5120640"/>
          </a:xfrm>
          <a:prstGeom prst="rect">
            <a:avLst/>
          </a:prstGeom>
        </p:spPr>
      </p:pic>
      <p:sp>
        <p:nvSpPr>
          <p:cNvPr id="4" name="Rounded Rectangle 3"/>
          <p:cNvSpPr/>
          <p:nvPr/>
        </p:nvSpPr>
        <p:spPr>
          <a:xfrm>
            <a:off x="8778240" y="1280160"/>
            <a:ext cx="2743200" cy="5120640"/>
          </a:xfrm>
          <a:prstGeom prst="roundRect">
            <a:avLst/>
          </a:prstGeom>
          <a:solidFill>
            <a:srgbClr val="FFFFFF"/>
          </a:solidFill>
          <a:ln w="1905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RBAC Highlights</a:t>
            </a:r>
          </a:p>
          <a:p>
            <a:pPr>
              <a:spcAft>
                <a:spcPts val="600"/>
              </a:spcAft>
              <a:defRPr sz="1100">
                <a:solidFill>
                  <a:srgbClr val="1E293B"/>
                </a:solidFill>
              </a:defRPr>
            </a:pPr>
            <a:r>
              <a:t>• Identity: Dedicated ServiceAccount per application.</a:t>
            </a:r>
          </a:p>
          <a:p>
            <a:pPr>
              <a:spcAft>
                <a:spcPts val="600"/>
              </a:spcAft>
              <a:defRPr sz="1100">
                <a:solidFill>
                  <a:srgbClr val="1E293B"/>
                </a:solidFill>
              </a:defRPr>
            </a:pPr>
            <a:r>
              <a:t>• Token Security: automountServiceAccountToken: false.</a:t>
            </a:r>
          </a:p>
          <a:p>
            <a:pPr>
              <a:spcAft>
                <a:spcPts val="600"/>
              </a:spcAft>
              <a:defRPr sz="1100">
                <a:solidFill>
                  <a:srgbClr val="1E293B"/>
                </a:solidFill>
              </a:defRPr>
            </a:pPr>
            <a:r>
              <a:t>• Syntax Fix: roleRef written as map with apiGroup singular.</a:t>
            </a:r>
          </a:p>
          <a:p>
            <a:pPr>
              <a:spcAft>
                <a:spcPts val="600"/>
              </a:spcAft>
              <a:defRPr sz="1100">
                <a:solidFill>
                  <a:srgbClr val="1E293B"/>
                </a:solidFill>
              </a:defRPr>
            </a:pPr>
            <a:r>
              <a:t>• Namespace Fix: Scoped dynamically to release namespace.</a:t>
            </a:r>
          </a:p>
          <a:p>
            <a:pPr>
              <a:spcAft>
                <a:spcPts val="600"/>
              </a:spcAft>
              <a:defRPr sz="1100">
                <a:solidFill>
                  <a:srgbClr val="1E293B"/>
                </a:solidFill>
              </a:defRPr>
            </a:pPr>
            <a:r>
              <a:t>• Least Privilege: Read-only access to ConfigMaps only.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13. Workload Hardening &amp; DevSecOps Standards</a:t>
            </a:r>
          </a:p>
        </p:txBody>
      </p:sp>
      <p:sp>
        <p:nvSpPr>
          <p:cNvPr id="3" name="Rounded Rectangle 2"/>
          <p:cNvSpPr/>
          <p:nvPr/>
        </p:nvSpPr>
        <p:spPr>
          <a:xfrm>
            <a:off x="731520" y="1371600"/>
            <a:ext cx="5120640" cy="4937760"/>
          </a:xfrm>
          <a:prstGeom prst="roundRect">
            <a:avLst/>
          </a:prstGeom>
          <a:solidFill>
            <a:srgbClr val="FFFFFF"/>
          </a:solidFill>
          <a:ln w="1905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Container Security Context</a:t>
            </a:r>
          </a:p>
          <a:p>
            <a:pPr>
              <a:spcAft>
                <a:spcPts val="600"/>
              </a:spcAft>
              <a:defRPr sz="1100">
                <a:solidFill>
                  <a:srgbClr val="1E293B"/>
                </a:solidFill>
              </a:defRPr>
            </a:pPr>
            <a:r>
              <a:t>• runAsNonRoot: true — Enforces execution under unprivileged UID 10001.</a:t>
            </a:r>
          </a:p>
          <a:p>
            <a:pPr>
              <a:spcAft>
                <a:spcPts val="600"/>
              </a:spcAft>
              <a:defRPr sz="1100">
                <a:solidFill>
                  <a:srgbClr val="1E293B"/>
                </a:solidFill>
              </a:defRPr>
            </a:pPr>
            <a:r>
              <a:t>• allowPrivilegeEscalation: false — Blocks setuid binary privilege inheritance.</a:t>
            </a:r>
          </a:p>
          <a:p>
            <a:pPr>
              <a:spcAft>
                <a:spcPts val="600"/>
              </a:spcAft>
              <a:defRPr sz="1100">
                <a:solidFill>
                  <a:srgbClr val="1E293B"/>
                </a:solidFill>
              </a:defRPr>
            </a:pPr>
            <a:r>
              <a:t>• capabilities.drop: ['ALL'] — Strips all standard Linux kernel capabilities.</a:t>
            </a:r>
          </a:p>
          <a:p>
            <a:pPr>
              <a:spcAft>
                <a:spcPts val="600"/>
              </a:spcAft>
              <a:defRPr sz="1100">
                <a:solidFill>
                  <a:srgbClr val="1E293B"/>
                </a:solidFill>
              </a:defRPr>
            </a:pPr>
            <a:r>
              <a:t>• seccompProfile: RuntimeDefault — Blocks unauthorized system calls at the kernel layer.</a:t>
            </a:r>
          </a:p>
        </p:txBody>
      </p:sp>
      <p:sp>
        <p:nvSpPr>
          <p:cNvPr id="4" name="Rounded Rectangle 3"/>
          <p:cNvSpPr/>
          <p:nvPr/>
        </p:nvSpPr>
        <p:spPr>
          <a:xfrm>
            <a:off x="6309360" y="1371600"/>
            <a:ext cx="5120640" cy="493776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Enterprise Secrets &amp; Identity</a:t>
            </a:r>
          </a:p>
          <a:p>
            <a:pPr>
              <a:spcAft>
                <a:spcPts val="600"/>
              </a:spcAft>
              <a:defRPr sz="1100">
                <a:solidFill>
                  <a:srgbClr val="1E293B"/>
                </a:solidFill>
              </a:defRPr>
            </a:pPr>
            <a:r>
              <a:t>• AWS IRSA: Replaces static credentials with temporary IAM OIDC role assumption.</a:t>
            </a:r>
          </a:p>
          <a:p>
            <a:pPr>
              <a:spcAft>
                <a:spcPts val="600"/>
              </a:spcAft>
              <a:defRPr sz="1100">
                <a:solidFill>
                  <a:srgbClr val="1E293B"/>
                </a:solidFill>
              </a:defRPr>
            </a:pPr>
            <a:r>
              <a:t>• External Secrets Operator: Syncs database credentials directly from AWS Secrets Manager.</a:t>
            </a:r>
          </a:p>
          <a:p>
            <a:pPr>
              <a:spcAft>
                <a:spcPts val="600"/>
              </a:spcAft>
              <a:defRPr sz="1100">
                <a:solidFill>
                  <a:srgbClr val="1E293B"/>
                </a:solidFill>
              </a:defRPr>
            </a:pPr>
            <a:r>
              <a:t>• NetworkPolicies: Restricts ingress/egress traffic to legitimate service paths.</a:t>
            </a:r>
          </a:p>
          <a:p>
            <a:pPr>
              <a:spcAft>
                <a:spcPts val="600"/>
              </a:spcAft>
              <a:defRPr sz="1100">
                <a:solidFill>
                  <a:srgbClr val="1E293B"/>
                </a:solidFill>
              </a:defRPr>
            </a:pPr>
            <a:r>
              <a:t>• Image Scanning: Automated vulnerability scanning via Trivy in CI/CD pipeline.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14. Health Probes: Startup, Readiness, &amp; Liveness</a:t>
            </a:r>
          </a:p>
        </p:txBody>
      </p:sp>
      <p:sp>
        <p:nvSpPr>
          <p:cNvPr id="3" name="Rounded Rectangle 2"/>
          <p:cNvSpPr/>
          <p:nvPr/>
        </p:nvSpPr>
        <p:spPr>
          <a:xfrm>
            <a:off x="731520" y="1371600"/>
            <a:ext cx="3291840" cy="493776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Startup Probe</a:t>
            </a:r>
          </a:p>
          <a:p>
            <a:pPr>
              <a:spcAft>
                <a:spcPts val="600"/>
              </a:spcAft>
              <a:defRPr sz="1100">
                <a:solidFill>
                  <a:srgbClr val="1E293B"/>
                </a:solidFill>
              </a:defRPr>
            </a:pPr>
            <a:r>
              <a:t>• Purpose: Verifies process startup.</a:t>
            </a:r>
          </a:p>
          <a:p>
            <a:pPr>
              <a:spcAft>
                <a:spcPts val="600"/>
              </a:spcAft>
              <a:defRPr sz="1100">
                <a:solidFill>
                  <a:srgbClr val="1E293B"/>
                </a:solidFill>
              </a:defRPr>
            </a:pPr>
            <a:r>
              <a:t>• Config: HTTP GET on / (failureThreshold: 20, period: 5s).</a:t>
            </a:r>
            <a:br/>
            <a:r>
              <a:t>Allows up to 100 seconds for slow initialization.</a:t>
            </a:r>
            <a:br/>
            <a:r>
              <a:t>Crucial: Disables liveness probe while active to prevent premature killing.</a:t>
            </a:r>
          </a:p>
        </p:txBody>
      </p:sp>
      <p:sp>
        <p:nvSpPr>
          <p:cNvPr id="4" name="Rounded Rectangle 3"/>
          <p:cNvSpPr/>
          <p:nvPr/>
        </p:nvSpPr>
        <p:spPr>
          <a:xfrm>
            <a:off x="4297680" y="1371600"/>
            <a:ext cx="3291840" cy="4937760"/>
          </a:xfrm>
          <a:prstGeom prst="roundRect">
            <a:avLst/>
          </a:prstGeom>
          <a:solidFill>
            <a:srgbClr val="FFFFFF"/>
          </a:solidFill>
          <a:ln w="1905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Readiness Probe</a:t>
            </a:r>
          </a:p>
          <a:p>
            <a:pPr>
              <a:spcAft>
                <a:spcPts val="600"/>
              </a:spcAft>
              <a:defRPr sz="1100">
                <a:solidFill>
                  <a:srgbClr val="1E293B"/>
                </a:solidFill>
              </a:defRPr>
            </a:pPr>
            <a:r>
              <a:t>• Purpose: Controls traffic routing.</a:t>
            </a:r>
          </a:p>
          <a:p>
            <a:pPr>
              <a:spcAft>
                <a:spcPts val="600"/>
              </a:spcAft>
              <a:defRPr sz="1100">
                <a:solidFill>
                  <a:srgbClr val="1E293B"/>
                </a:solidFill>
              </a:defRPr>
            </a:pPr>
            <a:r>
              <a:t>• Config: HTTP GET on / (failureThreshold: 3, period: 5s).</a:t>
            </a:r>
            <a:br/>
            <a:r>
              <a:t>Failing probe removes pod IP from Service endpoints.</a:t>
            </a:r>
            <a:br/>
            <a:r>
              <a:t>Crucial: Container remains running; zero user traffic routed to unhealthy pod.</a:t>
            </a:r>
          </a:p>
        </p:txBody>
      </p:sp>
      <p:sp>
        <p:nvSpPr>
          <p:cNvPr id="5" name="Rounded Rectangle 4"/>
          <p:cNvSpPr/>
          <p:nvPr/>
        </p:nvSpPr>
        <p:spPr>
          <a:xfrm>
            <a:off x="7863840" y="1371600"/>
            <a:ext cx="3291840" cy="4937760"/>
          </a:xfrm>
          <a:prstGeom prst="roundRect">
            <a:avLst/>
          </a:prstGeom>
          <a:solidFill>
            <a:srgbClr val="FFFFFF"/>
          </a:solidFill>
          <a:ln w="19050">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Liveness Probe</a:t>
            </a:r>
          </a:p>
          <a:p>
            <a:pPr>
              <a:spcAft>
                <a:spcPts val="600"/>
              </a:spcAft>
              <a:defRPr sz="1100">
                <a:solidFill>
                  <a:srgbClr val="1E293B"/>
                </a:solidFill>
              </a:defRPr>
            </a:pPr>
            <a:r>
              <a:t>• Purpose: Deadlock recovery.</a:t>
            </a:r>
          </a:p>
          <a:p>
            <a:pPr>
              <a:spcAft>
                <a:spcPts val="600"/>
              </a:spcAft>
              <a:defRPr sz="1100">
                <a:solidFill>
                  <a:srgbClr val="1E293B"/>
                </a:solidFill>
              </a:defRPr>
            </a:pPr>
            <a:r>
              <a:t>• Config: TCP socket check on port 80 (period: 10s).</a:t>
            </a:r>
            <a:br/>
            <a:r>
              <a:t>Failing probe triggers kubelet to kill and restart container.</a:t>
            </a:r>
            <a:br/>
            <a:r>
              <a:t>Crucial: Avoid deep database checks to prevent cascading cluster restarts.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15. Zero-Downtime Rolling Updates</a:t>
            </a:r>
          </a:p>
        </p:txBody>
      </p:sp>
      <p:sp>
        <p:nvSpPr>
          <p:cNvPr id="3" name="Rounded Rectangle 2"/>
          <p:cNvSpPr/>
          <p:nvPr/>
        </p:nvSpPr>
        <p:spPr>
          <a:xfrm>
            <a:off x="731520" y="1371600"/>
            <a:ext cx="5120640" cy="493776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RollingUpdate Mechanics</a:t>
            </a:r>
          </a:p>
          <a:p>
            <a:pPr>
              <a:spcAft>
                <a:spcPts val="600"/>
              </a:spcAft>
              <a:defRPr sz="1100">
                <a:solidFill>
                  <a:srgbClr val="1E293B"/>
                </a:solidFill>
              </a:defRPr>
            </a:pPr>
            <a:r>
              <a:t>• maxSurge: 1 — Creates 1 new pod before terminating any existing pod.</a:t>
            </a:r>
          </a:p>
          <a:p>
            <a:pPr>
              <a:spcAft>
                <a:spcPts val="600"/>
              </a:spcAft>
              <a:defRPr sz="1100">
                <a:solidFill>
                  <a:srgbClr val="1E293B"/>
                </a:solidFill>
              </a:defRPr>
            </a:pPr>
            <a:r>
              <a:t>• maxUnavailable: 0 — Guarantees 100% capacity remains online throughout rollout.</a:t>
            </a:r>
          </a:p>
          <a:p>
            <a:pPr>
              <a:spcAft>
                <a:spcPts val="600"/>
              </a:spcAft>
              <a:defRPr sz="1100">
                <a:solidFill>
                  <a:srgbClr val="1E293B"/>
                </a:solidFill>
              </a:defRPr>
            </a:pPr>
            <a:r>
              <a:t>• Readiness Gate: Old pod is only terminated after new pod passes readiness probe.</a:t>
            </a:r>
          </a:p>
          <a:p>
            <a:pPr>
              <a:spcAft>
                <a:spcPts val="600"/>
              </a:spcAft>
              <a:defRPr sz="1100">
                <a:solidFill>
                  <a:srgbClr val="1E293B"/>
                </a:solidFill>
              </a:defRPr>
            </a:pPr>
            <a:r>
              <a:t>• Traffic Continuity: Clients experience zero connection drops or 502 errors.</a:t>
            </a:r>
          </a:p>
        </p:txBody>
      </p:sp>
      <p:sp>
        <p:nvSpPr>
          <p:cNvPr id="4" name="Rounded Rectangle 3"/>
          <p:cNvSpPr/>
          <p:nvPr/>
        </p:nvSpPr>
        <p:spPr>
          <a:xfrm>
            <a:off x="6309360" y="1371600"/>
            <a:ext cx="5120640" cy="493776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PodDisruptionBudget (PDB)</a:t>
            </a:r>
          </a:p>
          <a:p>
            <a:pPr>
              <a:spcAft>
                <a:spcPts val="600"/>
              </a:spcAft>
              <a:defRPr sz="1100">
                <a:solidFill>
                  <a:srgbClr val="1E293B"/>
                </a:solidFill>
              </a:defRPr>
            </a:pPr>
            <a:r>
              <a:t>• minAvailable: 1 — Prevents Kubernetes from terminating all pods during node draining.</a:t>
            </a:r>
          </a:p>
          <a:p>
            <a:pPr>
              <a:spcAft>
                <a:spcPts val="600"/>
              </a:spcAft>
              <a:defRPr sz="1100">
                <a:solidFill>
                  <a:srgbClr val="1E293B"/>
                </a:solidFill>
              </a:defRPr>
            </a:pPr>
            <a:r>
              <a:t>• Node Upgrades: Cluster administrator upgrades EKS nodes safely without application downtime.</a:t>
            </a:r>
          </a:p>
          <a:p>
            <a:pPr>
              <a:spcAft>
                <a:spcPts val="600"/>
              </a:spcAft>
              <a:defRPr sz="1100">
                <a:solidFill>
                  <a:srgbClr val="1E293B"/>
                </a:solidFill>
              </a:defRPr>
            </a:pPr>
            <a:r>
              <a:t>• Voluntary Disruptions: Protects against accidental manual evictions and autoscaler drains.</a:t>
            </a:r>
          </a:p>
          <a:p>
            <a:pPr>
              <a:spcAft>
                <a:spcPts val="600"/>
              </a:spcAft>
              <a:defRPr sz="1100">
                <a:solidFill>
                  <a:srgbClr val="1E293B"/>
                </a:solidFill>
              </a:defRPr>
            </a:pPr>
            <a:r>
              <a:t>• High Availability: Works in tandem with HPA to ensure uninterrupted banking operations.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16. Operational Deployment Workflow</a:t>
            </a:r>
          </a:p>
        </p:txBody>
      </p:sp>
      <p:sp>
        <p:nvSpPr>
          <p:cNvPr id="3" name="Rounded Rectangle 2"/>
          <p:cNvSpPr/>
          <p:nvPr/>
        </p:nvSpPr>
        <p:spPr>
          <a:xfrm>
            <a:off x="731520" y="1371600"/>
            <a:ext cx="5120640" cy="493776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Pre-Deployment &amp; Installation</a:t>
            </a:r>
          </a:p>
          <a:p>
            <a:pPr>
              <a:spcAft>
                <a:spcPts val="600"/>
              </a:spcAft>
              <a:defRPr sz="1100">
                <a:solidFill>
                  <a:srgbClr val="1E293B"/>
                </a:solidFill>
              </a:defRPr>
            </a:pPr>
            <a:r>
              <a:t>• 1. Lint Chart: 'helm lint .' to validate syntax and chart rules.</a:t>
            </a:r>
          </a:p>
          <a:p>
            <a:pPr>
              <a:spcAft>
                <a:spcPts val="600"/>
              </a:spcAft>
              <a:defRPr sz="1100">
                <a:solidFill>
                  <a:srgbClr val="1E293B"/>
                </a:solidFill>
              </a:defRPr>
            </a:pPr>
            <a:r>
              <a:t>• 2. Local Render: 'helm template bank-app .' to inspect generated YAML.</a:t>
            </a:r>
          </a:p>
          <a:p>
            <a:pPr>
              <a:spcAft>
                <a:spcPts val="600"/>
              </a:spcAft>
              <a:defRPr sz="1100">
                <a:solidFill>
                  <a:srgbClr val="1E293B"/>
                </a:solidFill>
              </a:defRPr>
            </a:pPr>
            <a:r>
              <a:t>• 3. Dry-Run: 'kubectl apply --dry-run=server' to test against EKS API.</a:t>
            </a:r>
          </a:p>
          <a:p>
            <a:pPr>
              <a:spcAft>
                <a:spcPts val="600"/>
              </a:spcAft>
              <a:defRPr sz="1100">
                <a:solidFill>
                  <a:srgbClr val="1E293B"/>
                </a:solidFill>
              </a:defRPr>
            </a:pPr>
            <a:r>
              <a:t>• 4. Release Install: 'helm upgrade --install bank-app . --namespace production'.</a:t>
            </a:r>
          </a:p>
        </p:txBody>
      </p:sp>
      <p:sp>
        <p:nvSpPr>
          <p:cNvPr id="4" name="Rounded Rectangle 3"/>
          <p:cNvSpPr/>
          <p:nvPr/>
        </p:nvSpPr>
        <p:spPr>
          <a:xfrm>
            <a:off x="6309360" y="1371600"/>
            <a:ext cx="5120640" cy="4937760"/>
          </a:xfrm>
          <a:prstGeom prst="roundRect">
            <a:avLst/>
          </a:prstGeom>
          <a:solidFill>
            <a:srgbClr val="FFFFFF"/>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Upgrades &amp; Instant Rollback</a:t>
            </a:r>
          </a:p>
          <a:p>
            <a:pPr>
              <a:spcAft>
                <a:spcPts val="600"/>
              </a:spcAft>
              <a:defRPr sz="1100">
                <a:solidFill>
                  <a:srgbClr val="1E293B"/>
                </a:solidFill>
              </a:defRPr>
            </a:pPr>
            <a:r>
              <a:t>• Track History: 'helm history bank-app -n production' displays all revisions.</a:t>
            </a:r>
          </a:p>
          <a:p>
            <a:pPr>
              <a:spcAft>
                <a:spcPts val="600"/>
              </a:spcAft>
              <a:defRPr sz="1100">
                <a:solidFill>
                  <a:srgbClr val="1E293B"/>
                </a:solidFill>
              </a:defRPr>
            </a:pPr>
            <a:r>
              <a:t>• Rolling Upgrade: 'helm upgrade bank-app . --set image.tag=v2.0.0'.</a:t>
            </a:r>
          </a:p>
          <a:p>
            <a:pPr>
              <a:spcAft>
                <a:spcPts val="600"/>
              </a:spcAft>
              <a:defRPr sz="1100">
                <a:solidFill>
                  <a:srgbClr val="1E293B"/>
                </a:solidFill>
              </a:defRPr>
            </a:pPr>
            <a:r>
              <a:t>• Instant Rollback: 'helm rollback bank-app 1 -n production' in &lt;5 seconds.</a:t>
            </a:r>
          </a:p>
          <a:p>
            <a:pPr>
              <a:spcAft>
                <a:spcPts val="600"/>
              </a:spcAft>
              <a:defRPr sz="1100">
                <a:solidFill>
                  <a:srgbClr val="1E293B"/>
                </a:solidFill>
              </a:defRPr>
            </a:pPr>
            <a:r>
              <a:t>• Status Verification: 'kubectl rollout status deployment/bank-app'.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17. Production Troubleshooting Runbook</a:t>
            </a:r>
          </a:p>
        </p:txBody>
      </p:sp>
      <p:sp>
        <p:nvSpPr>
          <p:cNvPr id="3" name="Rounded Rectangle 2"/>
          <p:cNvSpPr/>
          <p:nvPr/>
        </p:nvSpPr>
        <p:spPr>
          <a:xfrm>
            <a:off x="731520" y="1371600"/>
            <a:ext cx="5029200" cy="2194560"/>
          </a:xfrm>
          <a:prstGeom prst="roundRect">
            <a:avLst/>
          </a:prstGeom>
          <a:solidFill>
            <a:srgbClr val="FFFFFF"/>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Multi-Attach Error</a:t>
            </a:r>
          </a:p>
          <a:p>
            <a:pPr>
              <a:spcAft>
                <a:spcPts val="600"/>
              </a:spcAft>
              <a:defRPr sz="1100">
                <a:solidFill>
                  <a:srgbClr val="1E293B"/>
                </a:solidFill>
              </a:defRPr>
            </a:pPr>
            <a:r>
              <a:t>• Symptom: Pod stuck in ContainerCreating.</a:t>
            </a:r>
            <a:br/>
            <a:r>
              <a:t>Cause: Single EBS volume mounted across nodes.</a:t>
            </a:r>
            <a:br/>
            <a:r>
              <a:t>Fix: Migrate to AWS EFS or co-locate with pod affinity.</a:t>
            </a:r>
          </a:p>
        </p:txBody>
      </p:sp>
      <p:sp>
        <p:nvSpPr>
          <p:cNvPr id="4" name="Rounded Rectangle 3"/>
          <p:cNvSpPr/>
          <p:nvPr/>
        </p:nvSpPr>
        <p:spPr>
          <a:xfrm>
            <a:off x="6035040" y="1371600"/>
            <a:ext cx="5029200" cy="2194560"/>
          </a:xfrm>
          <a:prstGeom prst="roundRect">
            <a:avLst/>
          </a:prstGeom>
          <a:solidFill>
            <a:srgbClr val="FFFFFF"/>
          </a:solidFill>
          <a:ln w="19050">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HPA &lt;unknown&gt; / 50%</a:t>
            </a:r>
          </a:p>
          <a:p>
            <a:pPr>
              <a:spcAft>
                <a:spcPts val="600"/>
              </a:spcAft>
              <a:defRPr sz="1100">
                <a:solidFill>
                  <a:srgbClr val="1E293B"/>
                </a:solidFill>
              </a:defRPr>
            </a:pPr>
            <a:r>
              <a:t>• Symptom: HPA target shows &lt;unknown&gt;.</a:t>
            </a:r>
            <a:br/>
            <a:r>
              <a:t>Cause: Missing CPU requests or Metrics Server dead.</a:t>
            </a:r>
            <a:br/>
            <a:r>
              <a:t>Fix: Define resources.requests.cpu; restart Metrics Server.</a:t>
            </a:r>
          </a:p>
        </p:txBody>
      </p:sp>
      <p:sp>
        <p:nvSpPr>
          <p:cNvPr id="5" name="Rounded Rectangle 4"/>
          <p:cNvSpPr/>
          <p:nvPr/>
        </p:nvSpPr>
        <p:spPr>
          <a:xfrm>
            <a:off x="731520" y="3840480"/>
            <a:ext cx="5029200" cy="219456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OOMKilled (Exit 137)</a:t>
            </a:r>
          </a:p>
          <a:p>
            <a:pPr>
              <a:spcAft>
                <a:spcPts val="600"/>
              </a:spcAft>
              <a:defRPr sz="1100">
                <a:solidFill>
                  <a:srgbClr val="1E293B"/>
                </a:solidFill>
              </a:defRPr>
            </a:pPr>
            <a:r>
              <a:t>• Symptom: Container restarts with Exit Code 137.</a:t>
            </a:r>
            <a:br/>
            <a:r>
              <a:t>Cause: Container exceeded resources.limits.memory.</a:t>
            </a:r>
            <a:br/>
            <a:r>
              <a:t>Fix: Increase memory limit or optimize application memory.</a:t>
            </a:r>
          </a:p>
        </p:txBody>
      </p:sp>
      <p:sp>
        <p:nvSpPr>
          <p:cNvPr id="6" name="Rounded Rectangle 5"/>
          <p:cNvSpPr/>
          <p:nvPr/>
        </p:nvSpPr>
        <p:spPr>
          <a:xfrm>
            <a:off x="6035040" y="3840480"/>
            <a:ext cx="5029200" cy="2194560"/>
          </a:xfrm>
          <a:prstGeom prst="roundRect">
            <a:avLst/>
          </a:prstGeom>
          <a:solidFill>
            <a:srgbClr val="FFFFFF"/>
          </a:solidFill>
          <a:ln w="1905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Empty Endpoints</a:t>
            </a:r>
          </a:p>
          <a:p>
            <a:pPr>
              <a:spcAft>
                <a:spcPts val="600"/>
              </a:spcAft>
              <a:defRPr sz="1100">
                <a:solidFill>
                  <a:srgbClr val="1E293B"/>
                </a:solidFill>
              </a:defRPr>
            </a:pPr>
            <a:r>
              <a:t>• Symptom: Service returns 502 Bad Gateway.</a:t>
            </a:r>
            <a:br/>
            <a:r>
              <a:t>Cause: Selector mismatch or failed readiness probe.</a:t>
            </a:r>
            <a:br/>
            <a:r>
              <a:t>Fix: Align labels; inspect readinessProbe endpoint.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18. Production Readiness Review Audit</a:t>
            </a:r>
          </a:p>
        </p:txBody>
      </p:sp>
      <p:sp>
        <p:nvSpPr>
          <p:cNvPr id="3" name="Rounded Rectangle 2"/>
          <p:cNvSpPr/>
          <p:nvPr/>
        </p:nvSpPr>
        <p:spPr>
          <a:xfrm>
            <a:off x="731520" y="1371600"/>
            <a:ext cx="5120640" cy="4937760"/>
          </a:xfrm>
          <a:prstGeom prst="roundRect">
            <a:avLst/>
          </a:prstGeom>
          <a:solidFill>
            <a:srgbClr val="FFFFFF"/>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Before (Original Flaws)</a:t>
            </a:r>
          </a:p>
          <a:p>
            <a:pPr>
              <a:spcAft>
                <a:spcPts val="600"/>
              </a:spcAft>
              <a:defRPr sz="1100">
                <a:solidFill>
                  <a:srgbClr val="1E293B"/>
                </a:solidFill>
              </a:defRPr>
            </a:pPr>
            <a:r>
              <a:t>• ❌ Inconsistent namespaces ('default' vs 'lab') breaking RBAC.</a:t>
            </a:r>
          </a:p>
          <a:p>
            <a:pPr>
              <a:spcAft>
                <a:spcPts val="600"/>
              </a:spcAft>
              <a:defRPr sz="1100">
                <a:solidFill>
                  <a:srgbClr val="1E293B"/>
                </a:solidFill>
              </a:defRPr>
            </a:pPr>
            <a:r>
              <a:t>• ❌ Broken roleRef schema syntax failing Kubernetes admission.</a:t>
            </a:r>
          </a:p>
          <a:p>
            <a:pPr>
              <a:spcAft>
                <a:spcPts val="600"/>
              </a:spcAft>
              <a:defRPr sz="1100">
                <a:solidFill>
                  <a:srgbClr val="1E293B"/>
                </a:solidFill>
              </a:defRPr>
            </a:pPr>
            <a:r>
              <a:t>• ❌ Frontend web container granted full pod deletion permissions.</a:t>
            </a:r>
          </a:p>
          <a:p>
            <a:pPr>
              <a:spcAft>
                <a:spcPts val="600"/>
              </a:spcAft>
              <a:defRPr sz="1100">
                <a:solidFill>
                  <a:srgbClr val="1E293B"/>
                </a:solidFill>
              </a:defRPr>
            </a:pPr>
            <a:r>
              <a:t>• ❌ Deprecated autoscaling/v1 lacking stabilization controls.</a:t>
            </a:r>
          </a:p>
          <a:p>
            <a:pPr>
              <a:spcAft>
                <a:spcPts val="600"/>
              </a:spcAft>
              <a:defRPr sz="1100">
                <a:solidFill>
                  <a:srgbClr val="1E293B"/>
                </a:solidFill>
              </a:defRPr>
            </a:pPr>
            <a:r>
              <a:t>• ❌ EBS RWO volume causing multi-node mount deadlock.</a:t>
            </a:r>
          </a:p>
        </p:txBody>
      </p:sp>
      <p:sp>
        <p:nvSpPr>
          <p:cNvPr id="4" name="Rounded Rectangle 3"/>
          <p:cNvSpPr/>
          <p:nvPr/>
        </p:nvSpPr>
        <p:spPr>
          <a:xfrm>
            <a:off x="6309360" y="1371600"/>
            <a:ext cx="5120640" cy="4937760"/>
          </a:xfrm>
          <a:prstGeom prst="roundRect">
            <a:avLst/>
          </a:prstGeom>
          <a:solidFill>
            <a:srgbClr val="FFFFFF"/>
          </a:solidFill>
          <a:ln w="19050">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After (Production-Grade)</a:t>
            </a:r>
          </a:p>
          <a:p>
            <a:pPr>
              <a:spcAft>
                <a:spcPts val="600"/>
              </a:spcAft>
              <a:defRPr sz="1100">
                <a:solidFill>
                  <a:srgbClr val="1E293B"/>
                </a:solidFill>
              </a:defRPr>
            </a:pPr>
            <a:r>
              <a:t>• ✅ Consistent namespace scoping via {{ .Release.Namespace }}.</a:t>
            </a:r>
          </a:p>
          <a:p>
            <a:pPr>
              <a:spcAft>
                <a:spcPts val="600"/>
              </a:spcAft>
              <a:defRPr sz="1100">
                <a:solidFill>
                  <a:srgbClr val="1E293B"/>
                </a:solidFill>
              </a:defRPr>
            </a:pPr>
            <a:r>
              <a:t>• ✅ Valid schema-compliant roleRef map syntax.</a:t>
            </a:r>
          </a:p>
          <a:p>
            <a:pPr>
              <a:spcAft>
                <a:spcPts val="600"/>
              </a:spcAft>
              <a:defRPr sz="1100">
                <a:solidFill>
                  <a:srgbClr val="1E293B"/>
                </a:solidFill>
              </a:defRPr>
            </a:pPr>
            <a:r>
              <a:t>• ✅ Least-privilege RBAC with token automounting disabled.</a:t>
            </a:r>
          </a:p>
          <a:p>
            <a:pPr>
              <a:spcAft>
                <a:spcPts val="600"/>
              </a:spcAft>
              <a:defRPr sz="1100">
                <a:solidFill>
                  <a:srgbClr val="1E293B"/>
                </a:solidFill>
              </a:defRPr>
            </a:pPr>
            <a:r>
              <a:t>• ✅ Upgraded to autoscaling/v2 with dual CPU/memory metrics.</a:t>
            </a:r>
          </a:p>
          <a:p>
            <a:pPr>
              <a:spcAft>
                <a:spcPts val="600"/>
              </a:spcAft>
              <a:defRPr sz="1100">
                <a:solidFill>
                  <a:srgbClr val="1E293B"/>
                </a:solidFill>
              </a:defRPr>
            </a:pPr>
            <a:r>
              <a:t>• ✅ Documented EBS limitations and defined AWS EFS blueprint.</a:t>
            </a:r>
          </a:p>
          <a:p>
            <a:pPr>
              <a:spcAft>
                <a:spcPts val="600"/>
              </a:spcAft>
              <a:defRPr sz="1100">
                <a:solidFill>
                  <a:srgbClr val="1E293B"/>
                </a:solidFill>
              </a:defRPr>
            </a:pPr>
            <a:r>
              <a:t>• ✅ Zero-downtime rolling update with PodDisruptionBudget.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19. Future DevOps &amp; GitOps Platform Roadmap</a:t>
            </a:r>
          </a:p>
        </p:txBody>
      </p:sp>
      <p:sp>
        <p:nvSpPr>
          <p:cNvPr id="3" name="Rounded Rectangle 2"/>
          <p:cNvSpPr/>
          <p:nvPr/>
        </p:nvSpPr>
        <p:spPr>
          <a:xfrm>
            <a:off x="731520" y="1371600"/>
            <a:ext cx="5120640" cy="493776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CI/CD &amp; GitOps Automation</a:t>
            </a:r>
          </a:p>
          <a:p>
            <a:pPr>
              <a:spcAft>
                <a:spcPts val="600"/>
              </a:spcAft>
              <a:defRPr sz="1100">
                <a:solidFill>
                  <a:srgbClr val="1E293B"/>
                </a:solidFill>
              </a:defRPr>
            </a:pPr>
            <a:r>
              <a:t>• GitHub Actions: Automated linting, Trivy vulnerability scanning, and Helm packaging.</a:t>
            </a:r>
          </a:p>
          <a:p>
            <a:pPr>
              <a:spcAft>
                <a:spcPts val="600"/>
              </a:spcAft>
              <a:defRPr sz="1100">
                <a:solidFill>
                  <a:srgbClr val="1E293B"/>
                </a:solidFill>
              </a:defRPr>
            </a:pPr>
            <a:r>
              <a:t>• Argo CD: Declarative GitOps deployment with automated drift detection and self-healing.</a:t>
            </a:r>
          </a:p>
          <a:p>
            <a:pPr>
              <a:spcAft>
                <a:spcPts val="600"/>
              </a:spcAft>
              <a:defRPr sz="1100">
                <a:solidFill>
                  <a:srgbClr val="1E293B"/>
                </a:solidFill>
              </a:defRPr>
            </a:pPr>
            <a:r>
              <a:t>• Terraform: Infrastructure as Code for provisioning EKS clusters, VPCs, and IAM roles.</a:t>
            </a:r>
          </a:p>
          <a:p>
            <a:pPr>
              <a:spcAft>
                <a:spcPts val="600"/>
              </a:spcAft>
              <a:defRPr sz="1100">
                <a:solidFill>
                  <a:srgbClr val="1E293B"/>
                </a:solidFill>
              </a:defRPr>
            </a:pPr>
            <a:r>
              <a:t>• Amazon ECR: Private, signed container registries with immutable digest pinning.</a:t>
            </a:r>
          </a:p>
        </p:txBody>
      </p:sp>
      <p:sp>
        <p:nvSpPr>
          <p:cNvPr id="4" name="Rounded Rectangle 3"/>
          <p:cNvSpPr/>
          <p:nvPr/>
        </p:nvSpPr>
        <p:spPr>
          <a:xfrm>
            <a:off x="6309360" y="1371600"/>
            <a:ext cx="5120640" cy="4937760"/>
          </a:xfrm>
          <a:prstGeom prst="roundRect">
            <a:avLst/>
          </a:prstGeom>
          <a:solidFill>
            <a:srgbClr val="FFFFFF"/>
          </a:solidFill>
          <a:ln w="19050">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Observability &amp; Platform Governance</a:t>
            </a:r>
          </a:p>
          <a:p>
            <a:pPr>
              <a:spcAft>
                <a:spcPts val="600"/>
              </a:spcAft>
              <a:defRPr sz="1100">
                <a:solidFill>
                  <a:srgbClr val="1E293B"/>
                </a:solidFill>
              </a:defRPr>
            </a:pPr>
            <a:r>
              <a:t>• Prometheus &amp; Grafana: Real-time RED metrics, cluster telemetry, and custom HPA triggers.</a:t>
            </a:r>
          </a:p>
          <a:p>
            <a:pPr>
              <a:spcAft>
                <a:spcPts val="600"/>
              </a:spcAft>
              <a:defRPr sz="1100">
                <a:solidFill>
                  <a:srgbClr val="1E293B"/>
                </a:solidFill>
              </a:defRPr>
            </a:pPr>
            <a:r>
              <a:t>• Fluent Bit &amp; Loki: Centralized application log aggregation and search.</a:t>
            </a:r>
          </a:p>
          <a:p>
            <a:pPr>
              <a:spcAft>
                <a:spcPts val="600"/>
              </a:spcAft>
              <a:defRPr sz="1100">
                <a:solidFill>
                  <a:srgbClr val="1E293B"/>
                </a:solidFill>
              </a:defRPr>
            </a:pPr>
            <a:r>
              <a:t>• Kyverno / OPA Gatekeeper: Automated policy enforcement for Pod Security Standards.</a:t>
            </a:r>
          </a:p>
          <a:p>
            <a:pPr>
              <a:spcAft>
                <a:spcPts val="600"/>
              </a:spcAft>
              <a:defRPr sz="1100">
                <a:solidFill>
                  <a:srgbClr val="1E293B"/>
                </a:solidFill>
              </a:defRPr>
            </a:pPr>
            <a:r>
              <a:t>• Karpenter: Intelligent, high-speed node autoscaling replacing Cluster Autoscaler.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731520" tIns="164592"/>
          <a:lstStyle/>
          <a:p>
            <a:pPr algn="ctr">
              <a:defRPr sz="950" b="1">
                <a:solidFill>
                  <a:srgbClr val="FF9900"/>
                </a:solidFill>
              </a:defRPr>
            </a:pPr>
            <a:r>
              <a:t>BANK APPLICATION ON AWS EKS — DEVOPS ARCHITECTURE</a:t>
            </a:r>
          </a:p>
          <a:p>
            <a:pPr>
              <a:defRPr sz="2000" b="1">
                <a:solidFill>
                  <a:srgbClr val="FFFFFF"/>
                </a:solidFill>
              </a:defRPr>
            </a:pPr>
            <a:r>
              <a:t>20. DevOps Learning Summary &amp; Key Takeaways</a:t>
            </a:r>
          </a:p>
        </p:txBody>
      </p:sp>
      <p:sp>
        <p:nvSpPr>
          <p:cNvPr id="3" name="Rounded Rectangle 2"/>
          <p:cNvSpPr/>
          <p:nvPr/>
        </p:nvSpPr>
        <p:spPr>
          <a:xfrm>
            <a:off x="731520" y="1371600"/>
            <a:ext cx="5120640" cy="4937760"/>
          </a:xfrm>
          <a:prstGeom prst="roundRect">
            <a:avLst/>
          </a:prstGeom>
          <a:solidFill>
            <a:srgbClr val="FFFFFF"/>
          </a:solidFill>
          <a:ln w="19050">
            <a:solidFill>
              <a:srgbClr val="326CE5"/>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Core Technical Competencies</a:t>
            </a:r>
          </a:p>
          <a:p>
            <a:pPr>
              <a:spcAft>
                <a:spcPts val="600"/>
              </a:spcAft>
              <a:defRPr sz="1100">
                <a:solidFill>
                  <a:srgbClr val="1E293B"/>
                </a:solidFill>
              </a:defRPr>
            </a:pPr>
            <a:r>
              <a:t>• Production Kubernetes Architecture: Deep mastery of Pods, Deployments, Services, and Ingress.</a:t>
            </a:r>
          </a:p>
          <a:p>
            <a:pPr>
              <a:spcAft>
                <a:spcPts val="600"/>
              </a:spcAft>
              <a:defRPr sz="1100">
                <a:solidFill>
                  <a:srgbClr val="1E293B"/>
                </a:solidFill>
              </a:defRPr>
            </a:pPr>
            <a:r>
              <a:t>• Elastic Autoscaling: Mathematical mechanics of HPA v2 and Metrics Server integration.</a:t>
            </a:r>
          </a:p>
          <a:p>
            <a:pPr>
              <a:spcAft>
                <a:spcPts val="600"/>
              </a:spcAft>
              <a:defRPr sz="1100">
                <a:solidFill>
                  <a:srgbClr val="1E293B"/>
                </a:solidFill>
              </a:defRPr>
            </a:pPr>
            <a:r>
              <a:t>• Cloud Storage Realities: Navigating block vs. network file storage trade-offs in AWS.</a:t>
            </a:r>
          </a:p>
          <a:p>
            <a:pPr>
              <a:spcAft>
                <a:spcPts val="600"/>
              </a:spcAft>
              <a:defRPr sz="1100">
                <a:solidFill>
                  <a:srgbClr val="1E293B"/>
                </a:solidFill>
              </a:defRPr>
            </a:pPr>
            <a:r>
              <a:t>• Zero-Trust Security: Enforcing least-privilege RBAC and container security contexts.</a:t>
            </a:r>
          </a:p>
        </p:txBody>
      </p:sp>
      <p:sp>
        <p:nvSpPr>
          <p:cNvPr id="4" name="Rounded Rectangle 3"/>
          <p:cNvSpPr/>
          <p:nvPr/>
        </p:nvSpPr>
        <p:spPr>
          <a:xfrm>
            <a:off x="6309360" y="1371600"/>
            <a:ext cx="5120640" cy="4937760"/>
          </a:xfrm>
          <a:prstGeom prst="roundRect">
            <a:avLst/>
          </a:prstGeom>
          <a:solidFill>
            <a:srgbClr val="FFFFFF"/>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wrap="square"/>
          <a:lstStyle/>
          <a:p>
            <a:pPr algn="ctr">
              <a:spcAft>
                <a:spcPts val="1000"/>
              </a:spcAft>
              <a:defRPr sz="1400" b="1">
                <a:solidFill>
                  <a:srgbClr val="0F172A"/>
                </a:solidFill>
              </a:defRPr>
            </a:pPr>
            <a:r>
              <a:t>DevOps Mindset &amp; Value</a:t>
            </a:r>
          </a:p>
          <a:p>
            <a:pPr>
              <a:spcAft>
                <a:spcPts val="600"/>
              </a:spcAft>
              <a:defRPr sz="1100">
                <a:solidFill>
                  <a:srgbClr val="1E293B"/>
                </a:solidFill>
              </a:defRPr>
            </a:pPr>
            <a:r>
              <a:t>• Understanding WHY: Prioritizing architectural rationale over rote YAML configuration.</a:t>
            </a:r>
          </a:p>
          <a:p>
            <a:pPr>
              <a:spcAft>
                <a:spcPts val="600"/>
              </a:spcAft>
              <a:defRPr sz="1100">
                <a:solidFill>
                  <a:srgbClr val="1E293B"/>
                </a:solidFill>
              </a:defRPr>
            </a:pPr>
            <a:r>
              <a:t>• Reliability by Default: Designing for failure with probes, PDBs, and zero-downtime rollouts.</a:t>
            </a:r>
          </a:p>
          <a:p>
            <a:pPr>
              <a:spcAft>
                <a:spcPts val="600"/>
              </a:spcAft>
              <a:defRPr sz="1100">
                <a:solidFill>
                  <a:srgbClr val="1E293B"/>
                </a:solidFill>
              </a:defRPr>
            </a:pPr>
            <a:r>
              <a:t>• Clear Technical Communication: Ability to teach and document complex cloud architectures.</a:t>
            </a:r>
          </a:p>
          <a:p>
            <a:pPr>
              <a:spcAft>
                <a:spcPts val="600"/>
              </a:spcAft>
              <a:defRPr sz="1100">
                <a:solidFill>
                  <a:srgbClr val="1E293B"/>
                </a:solidFill>
              </a:defRPr>
            </a:pPr>
            <a:r>
              <a:t>• Production Readiness: Bridging the gap between lab exercises and enterprise realities.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